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0" r:id="rId1"/>
  </p:sldMasterIdLst>
  <p:notesMasterIdLst>
    <p:notesMasterId r:id="rId34"/>
  </p:notesMasterIdLst>
  <p:sldIdLst>
    <p:sldId id="256" r:id="rId2"/>
    <p:sldId id="303" r:id="rId3"/>
    <p:sldId id="257" r:id="rId4"/>
    <p:sldId id="258" r:id="rId5"/>
    <p:sldId id="259" r:id="rId6"/>
    <p:sldId id="275" r:id="rId7"/>
    <p:sldId id="260" r:id="rId8"/>
    <p:sldId id="262" r:id="rId9"/>
    <p:sldId id="279" r:id="rId10"/>
    <p:sldId id="280" r:id="rId11"/>
    <p:sldId id="273" r:id="rId12"/>
    <p:sldId id="261" r:id="rId13"/>
    <p:sldId id="281" r:id="rId14"/>
    <p:sldId id="263" r:id="rId15"/>
    <p:sldId id="274" r:id="rId16"/>
    <p:sldId id="264" r:id="rId17"/>
    <p:sldId id="265" r:id="rId18"/>
    <p:sldId id="266" r:id="rId19"/>
    <p:sldId id="282" r:id="rId20"/>
    <p:sldId id="276" r:id="rId21"/>
    <p:sldId id="267" r:id="rId22"/>
    <p:sldId id="271" r:id="rId23"/>
    <p:sldId id="272" r:id="rId24"/>
    <p:sldId id="278" r:id="rId25"/>
    <p:sldId id="297" r:id="rId26"/>
    <p:sldId id="298" r:id="rId27"/>
    <p:sldId id="301" r:id="rId28"/>
    <p:sldId id="299" r:id="rId29"/>
    <p:sldId id="302" r:id="rId30"/>
    <p:sldId id="300" r:id="rId31"/>
    <p:sldId id="277" r:id="rId32"/>
    <p:sldId id="269" r:id="rId33"/>
  </p:sldIdLst>
  <p:sldSz cx="9144000" cy="6858000" type="screen4x3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37"/>
    <p:restoredTop sz="80568" autoAdjust="0"/>
  </p:normalViewPr>
  <p:slideViewPr>
    <p:cSldViewPr snapToGrid="0">
      <p:cViewPr varScale="1">
        <p:scale>
          <a:sx n="123" d="100"/>
          <a:sy n="123" d="100"/>
        </p:scale>
        <p:origin x="2168" y="192"/>
      </p:cViewPr>
      <p:guideLst>
        <p:guide orient="horz" pos="2160"/>
        <p:guide pos="2880"/>
      </p:guideLst>
    </p:cSldViewPr>
  </p:slideViewPr>
  <p:notesTextViewPr>
    <p:cViewPr>
      <p:scale>
        <a:sx n="140" d="100"/>
        <a:sy n="14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0" name="Google Shape;3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96e322a99f_0_4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</a:t>
            </a:r>
            <a:endParaRPr dirty="0"/>
          </a:p>
        </p:txBody>
      </p:sp>
      <p:sp>
        <p:nvSpPr>
          <p:cNvPr id="49" name="Google Shape;49;g396e322a99f_0_4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" name="Google Shape;38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" name="Google Shape;39;p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d820a6afd3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d820a6afd3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g3d820a6afd3_0_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d71cb83b42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d71cb83b42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Feedback needed: Is 1:100 the right primary ratio, or should we also test 1:10 and 1:20?</a:t>
            </a:r>
            <a:endParaRPr dirty="0"/>
          </a:p>
        </p:txBody>
      </p:sp>
      <p:sp>
        <p:nvSpPr>
          <p:cNvPr id="55" name="Google Shape;55;g3d71cb83b42_0_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d71cb83b42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d71cb83b42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g3d71cb83b42_0_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d71cb83b42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d71cb83b42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g3d71cb83b42_0_1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71cb83b42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71cb83b42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g3d71cb83b42_0_4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d71cb83b42_0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d71cb83b42_0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problem is not correctness; the problem is that it mixes aggregation with replication, so the results become harder to explain. For the main paper, 1 subscriber gives the cleanest fan-in result. A few subscribers are better as a secondary sensitivity study.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457200" lvl="0" indent="-360759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Topology</a:t>
            </a:r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N publishers → 1 subscriber</a:t>
            </a:r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All publishers publish to the </a:t>
            </a:r>
            <a:r>
              <a:rPr lang="en-US" b="1" dirty="0"/>
              <a:t>same topic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g3d71cb83b42_0_3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71cb83b42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d71cb83b42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g3d71cb83b42_0_3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d71cb83b42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d71cb83b42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04" name="Google Shape;104;g3d71cb83b42_0_11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71cb83b42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d71cb83b42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g3d71cb83b42_0_5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>
          <a:extLst>
            <a:ext uri="{FF2B5EF4-FFF2-40B4-BE49-F238E27FC236}">
              <a16:creationId xmlns:a16="http://schemas.microsoft.com/office/drawing/2014/main" id="{D22C9592-8CB3-B3EA-7605-3F9B2D426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d71cb83b42_0_57:notes">
            <a:extLst>
              <a:ext uri="{FF2B5EF4-FFF2-40B4-BE49-F238E27FC236}">
                <a16:creationId xmlns:a16="http://schemas.microsoft.com/office/drawing/2014/main" id="{17319F6D-B680-4D30-FEA6-EE1C961662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d71cb83b42_0_57:notes">
            <a:extLst>
              <a:ext uri="{FF2B5EF4-FFF2-40B4-BE49-F238E27FC236}">
                <a16:creationId xmlns:a16="http://schemas.microsoft.com/office/drawing/2014/main" id="{99D801E9-E8FA-5030-CDD2-4FCC274786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g3d71cb83b42_0_57:notes">
            <a:extLst>
              <a:ext uri="{FF2B5EF4-FFF2-40B4-BE49-F238E27FC236}">
                <a16:creationId xmlns:a16="http://schemas.microsoft.com/office/drawing/2014/main" id="{A5E048D9-96A3-64B4-54BC-D3C4D7B8679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38811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71cb83b42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3d71cb83b42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For experiment 3: Bursty Traffic Profile, we want to have multiple burst or multiple of each phases,</a:t>
            </a:r>
          </a:p>
          <a:p>
            <a:r>
              <a:rPr lang="en-US" dirty="0" err="1"/>
              <a:t>warmpu</a:t>
            </a:r>
            <a:r>
              <a:rPr lang="en-US" dirty="0"/>
              <a:t>-&gt; Loll -&gt; Burst -&gt; Recovery -&gt; Burst -&gt; Recovery -&gt; Burst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0" name="Google Shape;120;g3d71cb83b42_0_6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n-US" dirty="0"/>
              <a:t>Make length a little bigger</a:t>
            </a:r>
          </a:p>
          <a:p>
            <a:pPr>
              <a:buFontTx/>
              <a:buChar char="-"/>
            </a:pPr>
            <a:r>
              <a:rPr lang="en-US" dirty="0"/>
              <a:t>Instead of time, ignore messages (first 100)</a:t>
            </a:r>
          </a:p>
          <a:p>
            <a:pPr>
              <a:buFontTx/>
              <a:buChar char="-"/>
            </a:pPr>
            <a:r>
              <a:rPr lang="en-US" dirty="0"/>
              <a:t>Make Message based </a:t>
            </a:r>
          </a:p>
          <a:p>
            <a:pPr>
              <a:buFontTx/>
              <a:buChar char="-"/>
            </a:pPr>
            <a:r>
              <a:rPr lang="en-US" dirty="0"/>
              <a:t>First 10 message for every pub</a:t>
            </a:r>
          </a:p>
          <a:p>
            <a:pPr>
              <a:buFontTx/>
              <a:buChar char="-"/>
            </a:pPr>
            <a:r>
              <a:rPr lang="en-US" dirty="0"/>
              <a:t>Don’t stop the subscribers -&gt; to make stop the message loss</a:t>
            </a:r>
          </a:p>
          <a:p>
            <a:pPr>
              <a:buFontTx/>
              <a:buChar char="-"/>
            </a:pPr>
            <a:r>
              <a:rPr lang="en-US" dirty="0"/>
              <a:t>Try various/different ratio: 1:10, 1:20</a:t>
            </a:r>
          </a:p>
          <a:p>
            <a:pPr>
              <a:buFontTx/>
              <a:buChar char="-"/>
            </a:pPr>
            <a:r>
              <a:rPr lang="en-US" dirty="0"/>
              <a:t>Why RabbitMQ is consuming </a:t>
            </a:r>
          </a:p>
          <a:p>
            <a:pPr>
              <a:buFontTx/>
              <a:buChar char="-"/>
            </a:pPr>
            <a:r>
              <a:rPr lang="en-US" dirty="0"/>
              <a:t>Connect the hypothesis to number/evidence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820569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30ABA2-7E01-6ABF-FA3C-1E16E5871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07F05A-DE68-CAED-48CE-B80C4ACC23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D1FE5D-0B4C-9533-2EB9-7F8CD159F9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Tx/>
              <a:buChar char="-"/>
            </a:pPr>
            <a:r>
              <a:rPr lang="en-US" dirty="0"/>
              <a:t>If we plot all the brokers in the same graph, is it going to be </a:t>
            </a:r>
            <a:r>
              <a:rPr lang="en-US" dirty="0" err="1"/>
              <a:t>convulated</a:t>
            </a:r>
            <a:r>
              <a:rPr lang="en-US" dirty="0"/>
              <a:t>?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--rate-profile "warmup:60:5,baseline:60:5,burst:120:25,recovery:60:5, ,burst:60:25"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A818AC-1D91-C71C-D0F3-110AD056A25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94905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71cb83b42_0_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71cb83b42_0_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g3d71cb83b42_0_7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pcclab title">
  <p:cSld name="Hpcclab 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>
            <a:spLocks noGrp="1"/>
          </p:cNvSpPr>
          <p:nvPr>
            <p:ph type="pic" idx="2"/>
          </p:nvPr>
        </p:nvSpPr>
        <p:spPr>
          <a:xfrm>
            <a:off x="-1" y="5369442"/>
            <a:ext cx="1658700" cy="1464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8" name="Google Shape;18;p2" descr="title2.jpg"/>
          <p:cNvPicPr preferRelativeResize="0"/>
          <p:nvPr/>
        </p:nvPicPr>
        <p:blipFill rotWithShape="1">
          <a:blip r:embed="rId2">
            <a:alphaModFix/>
          </a:blip>
          <a:srcRect l="11812" r="15094"/>
          <a:stretch/>
        </p:blipFill>
        <p:spPr>
          <a:xfrm>
            <a:off x="7286920" y="5369442"/>
            <a:ext cx="1679809" cy="1464548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2" descr="UNT University of North Texas Logo PNG vector in SVG, PDF ..."/>
          <p:cNvSpPr/>
          <p:nvPr/>
        </p:nvSpPr>
        <p:spPr>
          <a:xfrm>
            <a:off x="4419600" y="32766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" name="Google Shape;20;p2" descr="A green logo with a bird&#10;&#10;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5192276"/>
            <a:ext cx="1951230" cy="1464547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2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80"/>
              </a:spcBef>
              <a:spcAft>
                <a:spcPts val="0"/>
              </a:spcAft>
              <a:buClr>
                <a:srgbClr val="888888"/>
              </a:buClr>
              <a:buSzPts val="425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pcclab content">
  <p:cSld name="Hpcclab conten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71475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5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▪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3498112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7" name="Google Shape;27;p3" descr="title2.jpg"/>
          <p:cNvPicPr preferRelativeResize="0"/>
          <p:nvPr/>
        </p:nvPicPr>
        <p:blipFill rotWithShape="1">
          <a:blip r:embed="rId2">
            <a:alphaModFix/>
          </a:blip>
          <a:srcRect l="9554" t="24998" r="14683" b="4782"/>
          <a:stretch/>
        </p:blipFill>
        <p:spPr>
          <a:xfrm>
            <a:off x="7984503" y="6196488"/>
            <a:ext cx="1159497" cy="6848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/>
          <p:nvPr/>
        </p:nvSpPr>
        <p:spPr>
          <a:xfrm>
            <a:off x="0" y="0"/>
            <a:ext cx="9144000" cy="1447800"/>
          </a:xfrm>
          <a:prstGeom prst="rect">
            <a:avLst/>
          </a:prstGeom>
          <a:solidFill>
            <a:srgbClr val="004080"/>
          </a:solidFill>
          <a:ln>
            <a:noFill/>
          </a:ln>
          <a:effectLst>
            <a:outerShdw blurRad="40000" dist="20000" dir="5400000" rotWithShape="0">
              <a:srgbClr val="000000">
                <a:alpha val="37647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" name="Google Shape;11;p1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98475" algn="l" rtl="0">
              <a:lnSpc>
                <a:spcPct val="100000"/>
              </a:lnSpc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4250"/>
              <a:buFont typeface="Arial"/>
              <a:buChar char="•"/>
              <a:defRPr sz="3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008000"/>
              </a:buClr>
              <a:buSzPts val="28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008000"/>
              </a:buClr>
              <a:buSzPts val="2400"/>
              <a:buFont typeface="Courier New"/>
              <a:buChar char="o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8000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8000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6592800" y="630932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>
            <a:spLocks noGrp="1"/>
          </p:cNvSpPr>
          <p:nvPr>
            <p:ph type="ctrTitle"/>
          </p:nvPr>
        </p:nvSpPr>
        <p:spPr>
          <a:xfrm>
            <a:off x="510750" y="1512200"/>
            <a:ext cx="8122500" cy="100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60" b="1" dirty="0">
                <a:solidFill>
                  <a:schemeClr val="dk1"/>
                </a:solidFill>
              </a:rPr>
              <a:t>Benchmarking Message Brokers for IoT Edge</a:t>
            </a:r>
            <a:endParaRPr sz="2560" b="1" dirty="0">
              <a:solidFill>
                <a:schemeClr val="dk1"/>
              </a:solidFill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60" b="1" dirty="0">
                <a:solidFill>
                  <a:schemeClr val="dk1"/>
                </a:solidFill>
              </a:rPr>
              <a:t>Computing: A Comprehensive Performance Study</a:t>
            </a:r>
            <a:endParaRPr sz="2560" b="1" dirty="0">
              <a:solidFill>
                <a:schemeClr val="dk1"/>
              </a:solidFill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subTitle" idx="1"/>
          </p:nvPr>
        </p:nvSpPr>
        <p:spPr>
          <a:xfrm>
            <a:off x="1371600" y="5105403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38"/>
              <a:buNone/>
            </a:pPr>
            <a:r>
              <a:rPr lang="en-US" sz="1910" b="1">
                <a:solidFill>
                  <a:schemeClr val="dk1"/>
                </a:solidFill>
              </a:rPr>
              <a:t>Tapajit Chandra Paul</a:t>
            </a:r>
            <a:endParaRPr sz="1815"/>
          </a:p>
          <a:p>
            <a:pPr marL="0" lvl="0" indent="0" algn="ctr" rtl="0">
              <a:lnSpc>
                <a:spcPct val="90000"/>
              </a:lnSpc>
              <a:spcBef>
                <a:spcPts val="396"/>
              </a:spcBef>
              <a:spcAft>
                <a:spcPts val="0"/>
              </a:spcAft>
              <a:buClr>
                <a:schemeClr val="dk1"/>
              </a:buClr>
              <a:buSzPts val="2138"/>
              <a:buNone/>
            </a:pPr>
            <a:r>
              <a:rPr lang="en-US" sz="1910" b="1">
                <a:solidFill>
                  <a:schemeClr val="dk1"/>
                </a:solidFill>
              </a:rPr>
              <a:t>High Performance Cloud Computing Lab (HPCC)</a:t>
            </a:r>
            <a:endParaRPr sz="1815"/>
          </a:p>
          <a:p>
            <a:pPr marL="0" lvl="0" indent="0" algn="ctr" rtl="0">
              <a:lnSpc>
                <a:spcPct val="90000"/>
              </a:lnSpc>
              <a:spcBef>
                <a:spcPts val="396"/>
              </a:spcBef>
              <a:spcAft>
                <a:spcPts val="0"/>
              </a:spcAft>
              <a:buClr>
                <a:schemeClr val="dk1"/>
              </a:buClr>
              <a:buSzPts val="2138"/>
              <a:buNone/>
            </a:pPr>
            <a:r>
              <a:rPr lang="en-US" sz="1910">
                <a:solidFill>
                  <a:schemeClr val="dk1"/>
                </a:solidFill>
              </a:rPr>
              <a:t>School of Computing and Informatics</a:t>
            </a:r>
            <a:endParaRPr sz="1815"/>
          </a:p>
          <a:p>
            <a:pPr marL="0" lvl="0" indent="0" algn="ctr" rtl="0">
              <a:lnSpc>
                <a:spcPct val="90000"/>
              </a:lnSpc>
              <a:spcBef>
                <a:spcPts val="396"/>
              </a:spcBef>
              <a:spcAft>
                <a:spcPts val="0"/>
              </a:spcAft>
              <a:buClr>
                <a:schemeClr val="dk1"/>
              </a:buClr>
              <a:buSzPts val="2138"/>
              <a:buNone/>
            </a:pPr>
            <a:r>
              <a:rPr lang="en-US" sz="1910">
                <a:solidFill>
                  <a:schemeClr val="dk1"/>
                </a:solidFill>
              </a:rPr>
              <a:t>University of North Texas</a:t>
            </a:r>
            <a:endParaRPr sz="1815"/>
          </a:p>
          <a:p>
            <a:pPr marL="0" lvl="0" indent="0" algn="ctr" rtl="0">
              <a:lnSpc>
                <a:spcPct val="90000"/>
              </a:lnSpc>
              <a:spcBef>
                <a:spcPts val="396"/>
              </a:spcBef>
              <a:spcAft>
                <a:spcPts val="0"/>
              </a:spcAft>
              <a:buClr>
                <a:schemeClr val="dk1"/>
              </a:buClr>
              <a:buSzPts val="2138"/>
              <a:buNone/>
            </a:pPr>
            <a:r>
              <a:rPr lang="en-US" sz="1910">
                <a:solidFill>
                  <a:schemeClr val="dk1"/>
                </a:solidFill>
              </a:rPr>
              <a:t>Apr 06, 2026</a:t>
            </a:r>
            <a:endParaRPr sz="1530"/>
          </a:p>
          <a:p>
            <a:pPr marL="0" lvl="0" indent="0" algn="ctr" rtl="0">
              <a:lnSpc>
                <a:spcPct val="90000"/>
              </a:lnSpc>
              <a:spcBef>
                <a:spcPts val="374"/>
              </a:spcBef>
              <a:spcAft>
                <a:spcPts val="0"/>
              </a:spcAft>
              <a:buClr>
                <a:srgbClr val="888888"/>
              </a:buClr>
              <a:buSzPts val="2019"/>
              <a:buNone/>
            </a:pPr>
            <a:endParaRPr sz="1815"/>
          </a:p>
        </p:txBody>
      </p:sp>
      <p:sp>
        <p:nvSpPr>
          <p:cNvPr id="34" name="Google Shape;34;p4"/>
          <p:cNvSpPr txBox="1"/>
          <p:nvPr/>
        </p:nvSpPr>
        <p:spPr>
          <a:xfrm>
            <a:off x="35400" y="3981713"/>
            <a:ext cx="9073200" cy="7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26th IEEE International Symposium on Cluster, Cloud, and Internet Computing (CCGRID)</a:t>
            </a:r>
            <a:br>
              <a:rPr lang="en-US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lang="en-US" sz="1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Journal Extension Plan)</a:t>
            </a:r>
            <a:endParaRPr sz="1800" b="1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" name="Google Shape;35;p4" title="Screenshot 2026-04-06 at 12.51.57 AM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1899" y="2686225"/>
            <a:ext cx="8880213" cy="100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>
            <a:spLocks noGrp="1"/>
          </p:cNvSpPr>
          <p:nvPr>
            <p:ph type="ctrTitle"/>
          </p:nvPr>
        </p:nvSpPr>
        <p:spPr>
          <a:xfrm>
            <a:off x="510750" y="2281881"/>
            <a:ext cx="8122500" cy="1155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560" b="1" dirty="0">
                <a:solidFill>
                  <a:schemeClr val="dk1"/>
                </a:solidFill>
              </a:rPr>
              <a:t>Benchmarking Message Brokers for IoT-Edge</a:t>
            </a:r>
            <a:endParaRPr sz="2560" b="1" dirty="0">
              <a:solidFill>
                <a:schemeClr val="dk1"/>
              </a:solidFill>
            </a:endParaRPr>
          </a:p>
          <a:p>
            <a:pPr>
              <a:buClr>
                <a:schemeClr val="dk1"/>
              </a:buClr>
              <a:buSzPts val="1100"/>
            </a:pPr>
            <a:r>
              <a:rPr lang="en-US" sz="2560" b="1" dirty="0">
                <a:solidFill>
                  <a:schemeClr val="dk1"/>
                </a:solidFill>
              </a:rPr>
              <a:t>Computing: A Comprehensive Performance Study</a:t>
            </a:r>
            <a:br>
              <a:rPr lang="en-US" sz="2560" b="1" dirty="0">
                <a:solidFill>
                  <a:schemeClr val="dk1"/>
                </a:solidFill>
              </a:rPr>
            </a:br>
            <a:r>
              <a:rPr lang="en-US" sz="2200" dirty="0">
                <a:solidFill>
                  <a:schemeClr val="dk1"/>
                </a:solidFill>
              </a:rPr>
              <a:t>(</a:t>
            </a:r>
            <a:r>
              <a:rPr lang="en-US" sz="2000" dirty="0">
                <a:solidFill>
                  <a:schemeClr val="tx1"/>
                </a:solidFill>
              </a:rPr>
              <a:t>Journal Extension Plan)</a:t>
            </a:r>
            <a:endParaRPr sz="2560" b="1" dirty="0">
              <a:solidFill>
                <a:schemeClr val="dk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53EEDC7-640F-6AA6-5DCC-39E9EE9B3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36773" y="5535828"/>
            <a:ext cx="1470454" cy="147045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8ECCFF3-8257-F96B-3137-084D8D5459F2}"/>
              </a:ext>
            </a:extLst>
          </p:cNvPr>
          <p:cNvSpPr txBox="1"/>
          <p:nvPr/>
        </p:nvSpPr>
        <p:spPr>
          <a:xfrm>
            <a:off x="359627" y="3797971"/>
            <a:ext cx="8666294" cy="14258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b="1" dirty="0" err="1"/>
              <a:t>Tapajit</a:t>
            </a:r>
            <a:r>
              <a:rPr lang="en-US" b="1" dirty="0"/>
              <a:t> Chandra Paul</a:t>
            </a:r>
            <a:r>
              <a:rPr lang="en-US" b="1" baseline="30000" dirty="0"/>
              <a:t>1</a:t>
            </a:r>
            <a:r>
              <a:rPr lang="en-US" b="1" dirty="0"/>
              <a:t>, </a:t>
            </a:r>
            <a:r>
              <a:rPr lang="en-US" b="1" dirty="0" err="1"/>
              <a:t>Pawissanutt</a:t>
            </a:r>
            <a:r>
              <a:rPr lang="en-US" b="1" dirty="0"/>
              <a:t> Lertpongrujikorn</a:t>
            </a:r>
            <a:r>
              <a:rPr lang="en-US" b="1" baseline="30000" dirty="0"/>
              <a:t>1</a:t>
            </a:r>
            <a:r>
              <a:rPr lang="en-US" b="1" dirty="0"/>
              <a:t>, Hai Duc Nguyen</a:t>
            </a:r>
            <a:r>
              <a:rPr lang="en-US" b="1" baseline="30000" dirty="0"/>
              <a:t>2</a:t>
            </a:r>
            <a:r>
              <a:rPr lang="en-US" b="1" dirty="0"/>
              <a:t>, and Mohsen Amini Salehi</a:t>
            </a:r>
            <a:r>
              <a:rPr lang="en-US" b="1" baseline="30000" dirty="0"/>
              <a:t>1</a:t>
            </a:r>
            <a:endParaRPr lang="en-US" b="1" dirty="0"/>
          </a:p>
          <a:p>
            <a:pPr algn="ctr">
              <a:lnSpc>
                <a:spcPct val="130000"/>
              </a:lnSpc>
            </a:pPr>
            <a:r>
              <a:rPr lang="en-US" baseline="30000" dirty="0"/>
              <a:t>1</a:t>
            </a:r>
            <a:r>
              <a:rPr lang="en-US" dirty="0"/>
              <a:t>High Performance Cloud Computing (HPCC) Lab, University of North Texas, USA</a:t>
            </a:r>
          </a:p>
          <a:p>
            <a:pPr algn="ctr">
              <a:lnSpc>
                <a:spcPct val="130000"/>
              </a:lnSpc>
            </a:pPr>
            <a:r>
              <a:rPr lang="en-US" baseline="30000" dirty="0"/>
              <a:t>2</a:t>
            </a:r>
            <a:r>
              <a:rPr lang="en-US" dirty="0"/>
              <a:t>Argonne National Laboratory and University of Chicago, USA</a:t>
            </a:r>
          </a:p>
          <a:p>
            <a:pPr algn="ctr">
              <a:lnSpc>
                <a:spcPct val="120000"/>
              </a:lnSpc>
            </a:pPr>
            <a:endParaRPr lang="en-US" dirty="0"/>
          </a:p>
          <a:p>
            <a:pPr algn="ctr">
              <a:lnSpc>
                <a:spcPct val="120000"/>
              </a:lnSpc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20"/>
              <a:buNone/>
            </a:pPr>
            <a:r>
              <a:rPr lang="en-US" sz="2860"/>
              <a:t>Proposed Extension: Beyond 1-to-1 Steady Load</a:t>
            </a:r>
            <a:endParaRPr sz="2860"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3498112" y="6356350"/>
            <a:ext cx="21336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sp>
        <p:nvSpPr>
          <p:cNvPr id="43" name="Google Shape;43;p5"/>
          <p:cNvSpPr txBox="1"/>
          <p:nvPr/>
        </p:nvSpPr>
        <p:spPr>
          <a:xfrm>
            <a:off x="133750" y="1574050"/>
            <a:ext cx="8862300" cy="514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93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Calibri"/>
              <a:buChar char="❖"/>
            </a:pPr>
            <a:r>
              <a:rPr lang="en-US" sz="2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Goal</a:t>
            </a:r>
            <a:endParaRPr sz="2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55600">
              <a:buClr>
                <a:schemeClr val="dk1"/>
              </a:buClr>
              <a:buSzPts val="2000"/>
              <a:buFont typeface="Calibri"/>
              <a:buChar char="➢"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Extend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the benchmark from isolated pairwise communication to </a:t>
            </a: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shared-topic, various topology and dynamic workloads</a:t>
            </a:r>
          </a:p>
          <a:p>
            <a:pPr marL="558800" lvl="1">
              <a:buClr>
                <a:schemeClr val="dk1"/>
              </a:buClr>
              <a:buSzPts val="2000"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93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Calibri"/>
              <a:buChar char="❖"/>
            </a:pPr>
            <a:r>
              <a:rPr lang="en-US" sz="26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Why this matters</a:t>
            </a:r>
            <a:endParaRPr sz="26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➢"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Real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IoT systems are rarely pure 1-to-1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➢"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applications use </a:t>
            </a: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aggregation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or </a:t>
            </a: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broadcast</a:t>
            </a:r>
            <a:endParaRPr sz="20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➢"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Steady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-rate benchmarks </a:t>
            </a: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miss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behavior</a:t>
            </a: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under traffic spikes</a:t>
            </a:r>
            <a:endParaRPr sz="20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➢"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want to study both </a:t>
            </a: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topology effect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traffic dynamics</a:t>
            </a:r>
            <a:endParaRPr sz="20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Char char="❖"/>
            </a:pPr>
            <a:r>
              <a:rPr lang="en-US" sz="24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Four new experiments</a:t>
            </a:r>
            <a:endParaRPr sz="24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55600">
              <a:buClr>
                <a:schemeClr val="dk1"/>
              </a:buClr>
              <a:buSzPts val="2000"/>
              <a:buFont typeface="Calibri"/>
              <a:buChar char="➢"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 1: </a:t>
            </a: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Fan-out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under steady load</a:t>
            </a:r>
            <a:r>
              <a:rPr lang="en-US" sz="2000" dirty="0"/>
              <a:t> → replication efficiency</a:t>
            </a:r>
            <a:endParaRPr sz="20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55600">
              <a:buClr>
                <a:schemeClr val="dk1"/>
              </a:buClr>
              <a:buSzPts val="2000"/>
              <a:buFont typeface="Calibri"/>
              <a:buChar char="➢"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 2: </a:t>
            </a: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Fan-in 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under steady load</a:t>
            </a:r>
            <a:r>
              <a:rPr lang="en-US" sz="2000" dirty="0"/>
              <a:t> → aggregation efficiency</a:t>
            </a:r>
            <a:endParaRPr sz="2000" b="1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55600">
              <a:buClr>
                <a:schemeClr val="dk1"/>
              </a:buClr>
              <a:buSzPts val="2000"/>
              <a:buFont typeface="Calibri"/>
              <a:buChar char="➢"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 3: </a:t>
            </a: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Bursty fan-out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(under dynamic traffic)</a:t>
            </a:r>
            <a:r>
              <a:rPr lang="en-US" sz="2000" dirty="0"/>
              <a:t> </a:t>
            </a:r>
            <a:r>
              <a:rPr lang="en-US" dirty="0"/>
              <a:t>→ overload and recovery behavior</a:t>
            </a:r>
            <a:endParaRPr lang="en-US"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Char char="➢"/>
            </a:pPr>
            <a:r>
              <a:rPr lang="en-US" sz="20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 4: Bursty fan-in 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(under dynamic traffic)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Why extension? (hidden)</a:t>
            </a:r>
            <a:endParaRPr dirty="0"/>
          </a:p>
        </p:txBody>
      </p:sp>
      <p:sp>
        <p:nvSpPr>
          <p:cNvPr id="50" name="Google Shape;50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579700" cy="452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algn="l" rtl="0">
              <a:spcBef>
                <a:spcPts val="360"/>
              </a:spcBef>
              <a:spcAft>
                <a:spcPts val="0"/>
              </a:spcAft>
              <a:buSzPts val="2250"/>
              <a:buFont typeface="Wingdings" pitchFamily="2" charset="2"/>
              <a:buChar char="v"/>
            </a:pPr>
            <a:r>
              <a:rPr lang="en-US" dirty="0"/>
              <a:t>Why?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➢"/>
            </a:pPr>
            <a:r>
              <a:rPr lang="en-US" dirty="0"/>
              <a:t>Current paper studies isolated 1-to-1 steady load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➢"/>
            </a:pPr>
            <a:r>
              <a:rPr lang="en-US" dirty="0"/>
              <a:t>Extension studies </a:t>
            </a:r>
            <a:r>
              <a:rPr lang="en-US" b="1" dirty="0"/>
              <a:t>shared-topic </a:t>
            </a:r>
            <a:r>
              <a:rPr lang="en-US" dirty="0"/>
              <a:t>workloads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➢"/>
            </a:pPr>
            <a:r>
              <a:rPr lang="en-US" dirty="0"/>
              <a:t>Extension also studies dynamic traffic</a:t>
            </a:r>
          </a:p>
        </p:txBody>
      </p:sp>
      <p:sp>
        <p:nvSpPr>
          <p:cNvPr id="51" name="Google Shape;51;p6"/>
          <p:cNvSpPr txBox="1">
            <a:spLocks noGrp="1"/>
          </p:cNvSpPr>
          <p:nvPr>
            <p:ph type="sldNum" idx="12"/>
          </p:nvPr>
        </p:nvSpPr>
        <p:spPr>
          <a:xfrm>
            <a:off x="3498112" y="6356350"/>
            <a:ext cx="21336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7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US" sz="3260"/>
              <a:t>Experiment 1: Fan-Out Under Steady Load</a:t>
            </a:r>
            <a:endParaRPr sz="3260"/>
          </a:p>
        </p:txBody>
      </p:sp>
      <p:sp>
        <p:nvSpPr>
          <p:cNvPr id="58" name="Google Shape;58;p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991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77500" lnSpcReduction="20000"/>
          </a:bodyPr>
          <a:lstStyle/>
          <a:p>
            <a:pPr marL="457200" lvl="0" indent="-328613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Research question</a:t>
            </a:r>
            <a:endParaRPr dirty="0"/>
          </a:p>
          <a:p>
            <a:pPr lvl="1" indent="-308610">
              <a:spcBef>
                <a:spcPts val="0"/>
              </a:spcBef>
              <a:buSzPct val="64286"/>
              <a:buChar char="➢"/>
            </a:pPr>
            <a:r>
              <a:rPr lang="en-US" dirty="0"/>
              <a:t>How </a:t>
            </a:r>
            <a:r>
              <a:rPr lang="en-US" b="1" dirty="0"/>
              <a:t>efficiently </a:t>
            </a:r>
            <a:r>
              <a:rPr lang="en-US" dirty="0"/>
              <a:t>can each </a:t>
            </a:r>
            <a:r>
              <a:rPr lang="en-US" b="1" dirty="0"/>
              <a:t>broker replicate </a:t>
            </a:r>
            <a:r>
              <a:rPr lang="en-US" dirty="0"/>
              <a:t>shared-topic messages to </a:t>
            </a:r>
            <a:r>
              <a:rPr lang="en-US" b="1" dirty="0"/>
              <a:t>many subscribers</a:t>
            </a:r>
            <a:r>
              <a:rPr lang="en-US" dirty="0"/>
              <a:t>?</a:t>
            </a:r>
          </a:p>
          <a:p>
            <a:pPr marL="605790" lvl="1" indent="0">
              <a:spcBef>
                <a:spcPts val="0"/>
              </a:spcBef>
              <a:buSzPct val="64286"/>
              <a:buNone/>
            </a:pPr>
            <a:endParaRPr dirty="0"/>
          </a:p>
          <a:p>
            <a:pPr marL="457200" lvl="0" indent="-328613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Topology</a:t>
            </a:r>
            <a:endParaRPr dirty="0"/>
          </a:p>
          <a:p>
            <a:pPr lvl="1" indent="-308610">
              <a:spcBef>
                <a:spcPts val="0"/>
              </a:spcBef>
              <a:buSzPct val="64286"/>
              <a:buChar char="➢"/>
            </a:pPr>
            <a:r>
              <a:rPr lang="en-US" dirty="0"/>
              <a:t>P publishers → broker → S subscribers</a:t>
            </a:r>
            <a:endParaRPr dirty="0"/>
          </a:p>
          <a:p>
            <a:pPr marL="914400" lvl="1" indent="-308610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All publishers publish to the same topic</a:t>
            </a:r>
            <a:endParaRPr dirty="0"/>
          </a:p>
          <a:p>
            <a:pPr marL="914400" lvl="1" indent="-308610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All subscribers subscribe to the same topic</a:t>
            </a:r>
            <a:endParaRPr dirty="0"/>
          </a:p>
          <a:p>
            <a:pPr marL="91440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28613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Publisher scaling rule</a:t>
            </a:r>
            <a:endParaRPr dirty="0"/>
          </a:p>
          <a:p>
            <a:pPr marL="914400" lvl="1" indent="-308610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P = max(1, ceil(S / 100))</a:t>
            </a:r>
            <a:endParaRPr dirty="0"/>
          </a:p>
          <a:p>
            <a:pPr marL="914400" lvl="1" indent="-308610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use 1 publisher per 100 subscribers</a:t>
            </a:r>
            <a:endParaRPr dirty="0"/>
          </a:p>
          <a:p>
            <a:pPr marL="91440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28613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Suggested subscriber scales</a:t>
            </a:r>
            <a:endParaRPr dirty="0"/>
          </a:p>
          <a:p>
            <a:pPr marL="914400" lvl="1" indent="-308610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S = 500, 1000, … , 5000</a:t>
            </a:r>
            <a:endParaRPr dirty="0"/>
          </a:p>
          <a:p>
            <a:pPr marL="914400" lvl="1" indent="-308610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then publishers become: 5, 10, 20, … , 50</a:t>
            </a:r>
            <a:endParaRPr dirty="0"/>
          </a:p>
        </p:txBody>
      </p:sp>
      <p:sp>
        <p:nvSpPr>
          <p:cNvPr id="59" name="Google Shape;59;p7"/>
          <p:cNvSpPr txBox="1">
            <a:spLocks noGrp="1"/>
          </p:cNvSpPr>
          <p:nvPr>
            <p:ph type="sldNum" idx="12"/>
          </p:nvPr>
        </p:nvSpPr>
        <p:spPr>
          <a:xfrm>
            <a:off x="3498112" y="6356350"/>
            <a:ext cx="21336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E13BA63-D0C8-7D91-632D-B9CA54325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DF8F2-0F4C-8AF2-F0FA-378E2C0A7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 of Fan-Out Topology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303A89-B991-DA08-E221-DD9C9DCD8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2096" y="1664208"/>
            <a:ext cx="8485632" cy="475615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Industrial control-state dissemination</a:t>
            </a:r>
          </a:p>
          <a:p>
            <a:pPr lvl="1"/>
            <a:r>
              <a:rPr lang="en-US" b="1" dirty="0"/>
              <a:t>one</a:t>
            </a:r>
            <a:r>
              <a:rPr lang="en-US" dirty="0"/>
              <a:t> supervisory </a:t>
            </a:r>
            <a:r>
              <a:rPr lang="en-US" b="1" dirty="0"/>
              <a:t>controller</a:t>
            </a:r>
            <a:r>
              <a:rPr lang="en-US" dirty="0"/>
              <a:t> distributes setpoints, schedules, or control parameters to </a:t>
            </a:r>
            <a:r>
              <a:rPr lang="en-US" b="1" dirty="0"/>
              <a:t>many</a:t>
            </a:r>
            <a:r>
              <a:rPr lang="en-US" dirty="0"/>
              <a:t> </a:t>
            </a:r>
            <a:r>
              <a:rPr lang="en-US" b="1" dirty="0"/>
              <a:t>machines</a:t>
            </a:r>
            <a:r>
              <a:rPr lang="en-US" dirty="0"/>
              <a:t> on the shop floor</a:t>
            </a:r>
          </a:p>
          <a:p>
            <a:pPr lvl="1"/>
            <a:endParaRPr lang="en-US" dirty="0"/>
          </a:p>
          <a:p>
            <a:r>
              <a:rPr lang="en-US" b="1" dirty="0"/>
              <a:t>Plant-wide configuration updates</a:t>
            </a:r>
          </a:p>
          <a:p>
            <a:pPr lvl="1"/>
            <a:r>
              <a:rPr lang="en-US" dirty="0"/>
              <a:t>one management service pushes configuration or policy changes to many gateways and devices</a:t>
            </a:r>
          </a:p>
          <a:p>
            <a:pPr lvl="1"/>
            <a:endParaRPr lang="en-US" b="1" dirty="0"/>
          </a:p>
          <a:p>
            <a:r>
              <a:rPr lang="en-US" b="1" dirty="0"/>
              <a:t>Operational dashboard distribution</a:t>
            </a:r>
          </a:p>
          <a:p>
            <a:pPr lvl="1"/>
            <a:r>
              <a:rPr lang="en-US" dirty="0"/>
              <a:t>one analytics service publishes processed plant status to many operator consoles and local applications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2826FC-CA7D-8C13-067E-717D8A71BC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6546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8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US" sz="3260" dirty="0"/>
              <a:t>Experiment 1: Fan-Out Under Steady Load</a:t>
            </a:r>
            <a:endParaRPr sz="3260" dirty="0"/>
          </a:p>
        </p:txBody>
      </p:sp>
      <p:sp>
        <p:nvSpPr>
          <p:cNvPr id="66" name="Google Shape;66;p8"/>
          <p:cNvSpPr txBox="1">
            <a:spLocks noGrp="1"/>
          </p:cNvSpPr>
          <p:nvPr>
            <p:ph type="body" idx="1"/>
          </p:nvPr>
        </p:nvSpPr>
        <p:spPr>
          <a:xfrm>
            <a:off x="150250" y="1696424"/>
            <a:ext cx="8829300" cy="4907576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70000" lnSpcReduction="20000"/>
          </a:bodyPr>
          <a:lstStyle/>
          <a:p>
            <a:pPr marL="457200" lvl="0" indent="-350044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Offered load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Publish throughput target = P × 10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Delivery throughput target</a:t>
            </a:r>
            <a:r>
              <a:rPr lang="en-US" dirty="0"/>
              <a:t> = P × 10 × S</a:t>
            </a:r>
            <a:endParaRPr dirty="0"/>
          </a:p>
          <a:p>
            <a:pPr marL="457200" lvl="0" indent="-350044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endParaRPr lang="en-US" dirty="0"/>
          </a:p>
          <a:p>
            <a:pPr marL="457200" lvl="0" indent="-350044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Metrics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Delivery Throughput</a:t>
            </a:r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Latency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CPU Utilization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Memory footprint</a:t>
            </a:r>
          </a:p>
          <a:p>
            <a:pPr lvl="1" indent="-325755">
              <a:lnSpc>
                <a:spcPct val="115000"/>
              </a:lnSpc>
              <a:spcBef>
                <a:spcPts val="0"/>
              </a:spcBef>
              <a:buSzPct val="64286"/>
              <a:buChar char="➢"/>
            </a:pPr>
            <a:r>
              <a:rPr lang="en-US" dirty="0">
                <a:solidFill>
                  <a:schemeClr val="accent2"/>
                </a:solidFill>
              </a:rPr>
              <a:t>Network overhead / bandwidth usage</a:t>
            </a:r>
          </a:p>
          <a:p>
            <a:pPr marL="914400" lvl="0" indent="0">
              <a:buNone/>
            </a:pPr>
            <a:endParaRPr lang="en-US" dirty="0"/>
          </a:p>
          <a:p>
            <a:pPr lvl="0" indent="-350044">
              <a:buSzPct val="66176"/>
              <a:buChar char="❖"/>
            </a:pPr>
            <a:r>
              <a:rPr lang="en-US" dirty="0"/>
              <a:t>Use Cases</a:t>
            </a:r>
          </a:p>
          <a:p>
            <a:pPr marL="1021556" lvl="1" indent="-457200">
              <a:buSzPct val="66176"/>
              <a:buFont typeface="Wingdings" pitchFamily="2" charset="2"/>
              <a:buChar char="Ø"/>
            </a:pPr>
            <a:r>
              <a:rPr lang="en-US" b="1" dirty="0"/>
              <a:t>Industrial controller</a:t>
            </a:r>
            <a:r>
              <a:rPr lang="en-US" dirty="0"/>
              <a:t> sends setpoints to </a:t>
            </a:r>
            <a:r>
              <a:rPr lang="en-US" b="1" dirty="0"/>
              <a:t>many machines</a:t>
            </a:r>
          </a:p>
          <a:p>
            <a:pPr marL="1021556" lvl="1" indent="-457200">
              <a:buSzPct val="66176"/>
              <a:buFont typeface="Wingdings" pitchFamily="2" charset="2"/>
              <a:buChar char="Ø"/>
            </a:pPr>
            <a:r>
              <a:rPr lang="en-US" b="1" dirty="0"/>
              <a:t>Management service </a:t>
            </a:r>
            <a:r>
              <a:rPr lang="en-US" dirty="0"/>
              <a:t>pushes configuration to </a:t>
            </a:r>
            <a:r>
              <a:rPr lang="en-US" b="1" dirty="0"/>
              <a:t>many gateways</a:t>
            </a:r>
          </a:p>
          <a:p>
            <a:pPr marL="1021556" lvl="1" indent="-457200">
              <a:buSzPct val="66176"/>
              <a:buFont typeface="Wingdings" pitchFamily="2" charset="2"/>
              <a:buChar char="Ø"/>
            </a:pPr>
            <a:r>
              <a:rPr lang="en-US" b="1" dirty="0"/>
              <a:t>Analytics service </a:t>
            </a:r>
            <a:r>
              <a:rPr lang="en-US" dirty="0"/>
              <a:t>distributes plant status </a:t>
            </a:r>
            <a:r>
              <a:rPr lang="en-US" b="1" dirty="0"/>
              <a:t>to dashboards</a:t>
            </a:r>
          </a:p>
          <a:p>
            <a:pPr marL="131445" indent="0">
              <a:lnSpc>
                <a:spcPct val="115000"/>
              </a:lnSpc>
              <a:spcBef>
                <a:spcPts val="0"/>
              </a:spcBef>
              <a:buSzPct val="64286"/>
              <a:buNone/>
            </a:pP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67" name="Google Shape;67;p8"/>
          <p:cNvSpPr txBox="1">
            <a:spLocks noGrp="1"/>
          </p:cNvSpPr>
          <p:nvPr>
            <p:ph type="sldNum" idx="12"/>
          </p:nvPr>
        </p:nvSpPr>
        <p:spPr>
          <a:xfrm>
            <a:off x="3498112" y="6356350"/>
            <a:ext cx="21336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5255CA-C006-95B0-3CD7-40FDC94EBB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5337" y="2729652"/>
            <a:ext cx="5098413" cy="177556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0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Fan-Out: What We Expect</a:t>
            </a:r>
            <a:endParaRPr/>
          </a:p>
        </p:txBody>
      </p:sp>
      <p:sp>
        <p:nvSpPr>
          <p:cNvPr id="82" name="Google Shape;82;p1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50044" algn="l" rtl="0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Expect to see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/>
              <a:t>Delivery</a:t>
            </a:r>
            <a:r>
              <a:rPr lang="en-US"/>
              <a:t> overhead rises </a:t>
            </a:r>
            <a:r>
              <a:rPr lang="en-US" dirty="0"/>
              <a:t>with </a:t>
            </a:r>
            <a:r>
              <a:rPr lang="en-US" b="1" dirty="0"/>
              <a:t>subscriber</a:t>
            </a:r>
            <a:r>
              <a:rPr lang="en-US" dirty="0"/>
              <a:t> count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CPU</a:t>
            </a:r>
            <a:r>
              <a:rPr lang="en-US" dirty="0"/>
              <a:t> rises quickly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Latency</a:t>
            </a:r>
            <a:r>
              <a:rPr lang="en-US" dirty="0"/>
              <a:t> rises at high fan-out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Multi-threaded</a:t>
            </a:r>
            <a:r>
              <a:rPr lang="en-US" dirty="0"/>
              <a:t> brokers scale </a:t>
            </a:r>
            <a:r>
              <a:rPr lang="en-US" b="1" dirty="0"/>
              <a:t>better</a:t>
            </a:r>
            <a:endParaRPr b="1"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Single-threaded </a:t>
            </a:r>
            <a:r>
              <a:rPr lang="en-US" dirty="0"/>
              <a:t>brokers </a:t>
            </a:r>
            <a:r>
              <a:rPr lang="en-US" b="1" dirty="0"/>
              <a:t>saturate</a:t>
            </a:r>
            <a:r>
              <a:rPr lang="en-US" dirty="0"/>
              <a:t> earlier</a:t>
            </a:r>
            <a:endParaRPr dirty="0"/>
          </a:p>
          <a:p>
            <a:pPr marL="457200" lvl="0" indent="0" algn="l" rtl="0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50044" algn="l" rtl="0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We learn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Which </a:t>
            </a:r>
            <a:r>
              <a:rPr lang="en-US" b="1" dirty="0"/>
              <a:t>brokers</a:t>
            </a:r>
            <a:r>
              <a:rPr lang="en-US" dirty="0"/>
              <a:t> are best for </a:t>
            </a:r>
            <a:r>
              <a:rPr lang="en-US" b="1" dirty="0"/>
              <a:t>broadcast</a:t>
            </a:r>
            <a:endParaRPr b="1"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Cost of message replication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Whether 1-to-1 strength also helps in fan-out</a:t>
            </a:r>
            <a:endParaRPr dirty="0"/>
          </a:p>
        </p:txBody>
      </p: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3498112" y="6356350"/>
            <a:ext cx="21336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C7E7744-F82D-27DF-EE59-9CBBEE112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78BEC-4FD7-788B-8345-8B44AE10C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Initial Result (CPU)</a:t>
            </a:r>
            <a:br>
              <a:rPr lang="en-US" dirty="0"/>
            </a:br>
            <a:r>
              <a:rPr lang="en-US" dirty="0"/>
              <a:t>(4 vCPU, 8 GB RAM) (hidden)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7E230F-4B50-6E8F-DBB9-DE858F105F1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AD228E-893E-2EE8-BE10-FAEB5CBFE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108" y="1526432"/>
            <a:ext cx="8229600" cy="23593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7FD0FD8-AFA3-6E62-5434-BEA2DC819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202" y="1793032"/>
            <a:ext cx="7865419" cy="4563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624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1EA3D25-4B80-913F-BC67-E1130C97B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199A0-69EB-0196-5AC0-FB124CD85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Initial Result (Memory)</a:t>
            </a:r>
            <a:br>
              <a:rPr lang="en-US" dirty="0"/>
            </a:br>
            <a:r>
              <a:rPr lang="en-US" dirty="0"/>
              <a:t>(4 vCPU, 8 GB RAM) (hidden)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ECACF5-6566-A791-B5CE-E6A957A0AE4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EB6FAC-996A-5F90-3D61-897AAB62F1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308" y="1526432"/>
            <a:ext cx="7772400" cy="2228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9B4CCD7-431C-3D25-10FB-5C5B116509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308" y="1846999"/>
            <a:ext cx="7772400" cy="4509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2645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355F44-63AC-0D1B-7C79-C4002569B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60200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Why Network Bandwidth for fan-out (hidden)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6FEDB0-2C87-52D0-01B6-67ED62F0A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Fan-out replicates messages to many subscribers </a:t>
            </a:r>
          </a:p>
          <a:p>
            <a:r>
              <a:rPr lang="en-US" sz="2800" dirty="0"/>
              <a:t>Network cost naturally grows in Fan-out</a:t>
            </a:r>
          </a:p>
          <a:p>
            <a:r>
              <a:rPr lang="en-US" sz="2800" dirty="0"/>
              <a:t>This is where “bytes on wire” is most meaningful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56D830-1A94-65F9-595C-E49F769988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05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9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>
              <a:buSzPts val="990"/>
            </a:pPr>
            <a:r>
              <a:rPr lang="en-US" sz="3660" dirty="0"/>
              <a:t>Why 1 Publisher per 100 Subscribers? </a:t>
            </a:r>
            <a:r>
              <a:rPr lang="en-US" sz="4000" dirty="0"/>
              <a:t>(hidden)</a:t>
            </a:r>
            <a:endParaRPr sz="3660" dirty="0"/>
          </a:p>
        </p:txBody>
      </p:sp>
      <p:sp>
        <p:nvSpPr>
          <p:cNvPr id="74" name="Google Shape;74;p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5257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457200" lvl="0" indent="-350044" algn="l" rtl="0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Why not only 1 publisher?</a:t>
            </a:r>
            <a:endParaRPr dirty="0"/>
          </a:p>
          <a:p>
            <a:pPr marL="914400" lvl="1" indent="-32575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less realistic </a:t>
            </a:r>
            <a:r>
              <a:rPr lang="en-US" dirty="0"/>
              <a:t>for practical deployments</a:t>
            </a:r>
            <a:endParaRPr dirty="0"/>
          </a:p>
          <a:p>
            <a:pPr marL="914400" lvl="1" indent="-32575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may </a:t>
            </a:r>
            <a:r>
              <a:rPr lang="en-US" b="1" dirty="0"/>
              <a:t>under-stress</a:t>
            </a:r>
            <a:r>
              <a:rPr lang="en-US" dirty="0"/>
              <a:t> ingress</a:t>
            </a:r>
            <a:endParaRPr dirty="0"/>
          </a:p>
          <a:p>
            <a:pPr marL="914400" lvl="1" indent="-32575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may </a:t>
            </a:r>
            <a:r>
              <a:rPr lang="en-US" b="1" dirty="0"/>
              <a:t>overemphasize</a:t>
            </a:r>
            <a:r>
              <a:rPr lang="en-US" dirty="0"/>
              <a:t> </a:t>
            </a:r>
            <a:r>
              <a:rPr lang="en-US" b="1" dirty="0"/>
              <a:t>one</a:t>
            </a:r>
            <a:r>
              <a:rPr lang="en-US" dirty="0"/>
              <a:t> client’s limits</a:t>
            </a:r>
            <a:endParaRPr dirty="0"/>
          </a:p>
          <a:p>
            <a:pPr marL="457200" lvl="0" indent="0" algn="l" rtl="0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50044" algn="l" rtl="0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Why 1:100 makes sense, because:</a:t>
            </a:r>
            <a:endParaRPr dirty="0"/>
          </a:p>
          <a:p>
            <a:pPr marL="914400" lvl="1" indent="-32575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keeps the experiment </a:t>
            </a:r>
            <a:r>
              <a:rPr lang="en-US" b="1" dirty="0"/>
              <a:t>primarily fan-out</a:t>
            </a:r>
            <a:endParaRPr b="1" dirty="0"/>
          </a:p>
          <a:p>
            <a:pPr marL="914400" lvl="1" indent="-32575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introduces</a:t>
            </a:r>
            <a:r>
              <a:rPr lang="en-US" dirty="0"/>
              <a:t> just </a:t>
            </a:r>
            <a:r>
              <a:rPr lang="en-US" b="1" dirty="0"/>
              <a:t>enough</a:t>
            </a:r>
            <a:r>
              <a:rPr lang="en-US" dirty="0"/>
              <a:t> ingress </a:t>
            </a:r>
            <a:r>
              <a:rPr lang="en-US" b="1" dirty="0"/>
              <a:t>diversity</a:t>
            </a:r>
            <a:endParaRPr b="1" dirty="0"/>
          </a:p>
          <a:p>
            <a:pPr marL="914400" lvl="1" indent="-32575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aligns nicely</a:t>
            </a:r>
            <a:r>
              <a:rPr lang="en-US" dirty="0"/>
              <a:t> with the</a:t>
            </a:r>
            <a:r>
              <a:rPr lang="en-US" b="1" dirty="0"/>
              <a:t> original</a:t>
            </a:r>
            <a:r>
              <a:rPr lang="en-US" dirty="0"/>
              <a:t> study’s scale</a:t>
            </a:r>
            <a:endParaRPr dirty="0"/>
          </a:p>
          <a:p>
            <a:pPr marL="914400" lvl="1" indent="-32575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easy</a:t>
            </a:r>
            <a:r>
              <a:rPr lang="en-US" dirty="0"/>
              <a:t> to explain and </a:t>
            </a:r>
            <a:r>
              <a:rPr lang="en-US" b="1" dirty="0"/>
              <a:t>reproduce</a:t>
            </a:r>
            <a:endParaRPr b="1" dirty="0"/>
          </a:p>
          <a:p>
            <a:pPr marL="914400" lvl="0" indent="0" algn="l" rtl="0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75" name="Google Shape;75;p9"/>
          <p:cNvSpPr txBox="1">
            <a:spLocks noGrp="1"/>
          </p:cNvSpPr>
          <p:nvPr>
            <p:ph type="sldNum" idx="12"/>
          </p:nvPr>
        </p:nvSpPr>
        <p:spPr>
          <a:xfrm>
            <a:off x="3498112" y="6356350"/>
            <a:ext cx="21336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17B17-88C1-6D21-E7ED-2DBCB6A17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Fan-In Initial Results (hidden)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5B172-544F-4249-559E-275BAB76EC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D44A3F-89AE-88E8-F54B-0A27D28489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23673"/>
            <a:ext cx="7772400" cy="45093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3FA12F8-59F3-4825-D18F-C40A717C53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686" y="1472775"/>
            <a:ext cx="7269426" cy="723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1574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1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US" sz="3460"/>
              <a:t>Experiment 2: Fan-In Under Steady Load</a:t>
            </a:r>
            <a:endParaRPr sz="3460"/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5257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457200" lvl="0" indent="-360759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Research question</a:t>
            </a:r>
            <a:endParaRPr dirty="0"/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How does </a:t>
            </a:r>
            <a:r>
              <a:rPr lang="en-US" b="1" dirty="0"/>
              <a:t>performance change</a:t>
            </a:r>
            <a:r>
              <a:rPr lang="en-US" dirty="0"/>
              <a:t> when many publishers send to </a:t>
            </a:r>
            <a:r>
              <a:rPr lang="en-US" b="1" dirty="0"/>
              <a:t>one shared topic</a:t>
            </a:r>
            <a:r>
              <a:rPr lang="en-US" dirty="0"/>
              <a:t> instead of isolated 1-to-1 pairs?</a:t>
            </a:r>
            <a:endParaRPr dirty="0"/>
          </a:p>
          <a:p>
            <a:pPr marL="91440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60759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Topology</a:t>
            </a:r>
            <a:endParaRPr dirty="0"/>
          </a:p>
          <a:p>
            <a:pPr lvl="1" indent="-334328">
              <a:spcBef>
                <a:spcPts val="0"/>
              </a:spcBef>
              <a:buSzPct val="64286"/>
              <a:buChar char="➢"/>
            </a:pPr>
            <a:r>
              <a:rPr lang="en-US" dirty="0"/>
              <a:t>N publishers → broker → 1 subscriber</a:t>
            </a:r>
            <a:endParaRPr dirty="0"/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All publishers publish to the </a:t>
            </a:r>
            <a:r>
              <a:rPr lang="en-US" b="1" dirty="0"/>
              <a:t>same topic</a:t>
            </a:r>
            <a:endParaRPr b="1" dirty="0"/>
          </a:p>
          <a:p>
            <a:pPr marL="91440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60759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Why this experiment</a:t>
            </a:r>
            <a:endParaRPr dirty="0"/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isolates</a:t>
            </a:r>
            <a:r>
              <a:rPr lang="en-US" dirty="0"/>
              <a:t> the </a:t>
            </a:r>
            <a:r>
              <a:rPr lang="en-US" b="1" dirty="0"/>
              <a:t>effect</a:t>
            </a:r>
            <a:r>
              <a:rPr lang="en-US" dirty="0"/>
              <a:t> of shared-topic </a:t>
            </a:r>
            <a:r>
              <a:rPr lang="en-US" b="1" dirty="0"/>
              <a:t>aggregation</a:t>
            </a:r>
            <a:endParaRPr b="1" dirty="0"/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keeps traffic steady</a:t>
            </a:r>
            <a:endParaRPr dirty="0"/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directly </a:t>
            </a:r>
            <a:r>
              <a:rPr lang="en-US" b="1" dirty="0"/>
              <a:t>comparable</a:t>
            </a:r>
            <a:r>
              <a:rPr lang="en-US" dirty="0"/>
              <a:t> to the current </a:t>
            </a:r>
            <a:r>
              <a:rPr lang="en-US" b="1" dirty="0"/>
              <a:t>throughput</a:t>
            </a:r>
            <a:r>
              <a:rPr lang="en-US" dirty="0"/>
              <a:t> </a:t>
            </a:r>
            <a:r>
              <a:rPr lang="en-US" b="1" dirty="0"/>
              <a:t>experiment</a:t>
            </a:r>
          </a:p>
        </p:txBody>
      </p:sp>
      <p:sp>
        <p:nvSpPr>
          <p:cNvPr id="91" name="Google Shape;91;p11"/>
          <p:cNvSpPr txBox="1">
            <a:spLocks noGrp="1"/>
          </p:cNvSpPr>
          <p:nvPr>
            <p:ph type="sldNum" idx="12"/>
          </p:nvPr>
        </p:nvSpPr>
        <p:spPr>
          <a:xfrm>
            <a:off x="3498112" y="6356350"/>
            <a:ext cx="21336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402BC-9956-957A-EFAE-34D035881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cases of Fan-In Topology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D1370F-D29C-6C8D-FE73-52A354A30B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2096" y="1664208"/>
            <a:ext cx="8485632" cy="4756150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Sensor aggregation at an edge gateway</a:t>
            </a:r>
          </a:p>
          <a:p>
            <a:pPr lvl="1"/>
            <a:r>
              <a:rPr lang="en-US" dirty="0"/>
              <a:t>many </a:t>
            </a:r>
            <a:r>
              <a:rPr lang="en-US" b="1" dirty="0"/>
              <a:t>IoT devices </a:t>
            </a:r>
            <a:r>
              <a:rPr lang="en-US" dirty="0"/>
              <a:t>continuously </a:t>
            </a:r>
            <a:r>
              <a:rPr lang="en-US" b="1" dirty="0"/>
              <a:t>send telemetry </a:t>
            </a:r>
            <a:r>
              <a:rPr lang="en-US" dirty="0"/>
              <a:t>to one collector for monitoring and analytics</a:t>
            </a:r>
          </a:p>
          <a:p>
            <a:endParaRPr lang="en-US" dirty="0"/>
          </a:p>
          <a:p>
            <a:r>
              <a:rPr lang="en-US" b="1" dirty="0"/>
              <a:t>Fleet or robot status collection</a:t>
            </a:r>
          </a:p>
          <a:p>
            <a:pPr lvl="1"/>
            <a:r>
              <a:rPr lang="en-US" dirty="0"/>
              <a:t>many </a:t>
            </a:r>
            <a:r>
              <a:rPr lang="en-US" b="1" dirty="0"/>
              <a:t>distributed</a:t>
            </a:r>
            <a:r>
              <a:rPr lang="en-US" dirty="0"/>
              <a:t> </a:t>
            </a:r>
            <a:r>
              <a:rPr lang="en-US" b="1" dirty="0"/>
              <a:t>agents</a:t>
            </a:r>
            <a:r>
              <a:rPr lang="en-US" dirty="0"/>
              <a:t> report health, position, or state updates to a </a:t>
            </a:r>
            <a:r>
              <a:rPr lang="en-US" b="1" dirty="0"/>
              <a:t>central controller </a:t>
            </a:r>
          </a:p>
          <a:p>
            <a:endParaRPr lang="en-US" b="1" dirty="0"/>
          </a:p>
          <a:p>
            <a:r>
              <a:rPr lang="en-US" b="1" dirty="0"/>
              <a:t>Industrial data ingest</a:t>
            </a:r>
          </a:p>
          <a:p>
            <a:pPr lvl="1"/>
            <a:r>
              <a:rPr lang="en-US" dirty="0"/>
              <a:t>multiple machines publish measurements to a shared stream for local processing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171BF5-F082-1BD9-17C5-5B289C3AB2D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99892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2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US" sz="3260"/>
              <a:t>Experiment 2: Fan-In Under Steady Load</a:t>
            </a:r>
            <a:endParaRPr sz="3260"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1"/>
          </p:nvPr>
        </p:nvSpPr>
        <p:spPr>
          <a:xfrm>
            <a:off x="174425" y="1600800"/>
            <a:ext cx="8871350" cy="5257199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62500" lnSpcReduction="20000"/>
          </a:bodyPr>
          <a:lstStyle/>
          <a:p>
            <a:pPr marL="457200" lvl="0" indent="-360759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Parameters</a:t>
            </a:r>
            <a:endParaRPr dirty="0"/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Publishers</a:t>
            </a:r>
            <a:r>
              <a:rPr lang="en-US" dirty="0"/>
              <a:t>: 500, 1000, 2000, 5000, 10000</a:t>
            </a:r>
            <a:endParaRPr dirty="0"/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Subscriber</a:t>
            </a:r>
            <a:r>
              <a:rPr lang="en-US" dirty="0"/>
              <a:t>: 1</a:t>
            </a:r>
            <a:endParaRPr dirty="0"/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Rate</a:t>
            </a:r>
            <a:r>
              <a:rPr lang="en-US" dirty="0"/>
              <a:t> per publisher: 10 msg/s</a:t>
            </a:r>
            <a:endParaRPr dirty="0"/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Payload</a:t>
            </a:r>
            <a:r>
              <a:rPr lang="en-US" dirty="0"/>
              <a:t>: 1 KB</a:t>
            </a:r>
            <a:endParaRPr dirty="0"/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Duration</a:t>
            </a:r>
            <a:r>
              <a:rPr lang="en-US" dirty="0"/>
              <a:t>: 120 s</a:t>
            </a:r>
            <a:endParaRPr dirty="0"/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Warmup</a:t>
            </a:r>
            <a:r>
              <a:rPr lang="en-US" dirty="0"/>
              <a:t>: 60 s</a:t>
            </a:r>
            <a:endParaRPr dirty="0"/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QoS</a:t>
            </a:r>
            <a:r>
              <a:rPr lang="en-US" dirty="0"/>
              <a:t>: 0</a:t>
            </a:r>
            <a:endParaRPr dirty="0"/>
          </a:p>
          <a:p>
            <a:pPr marL="91440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60759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Metrics</a:t>
            </a:r>
            <a:endParaRPr dirty="0"/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Delivery Throughput</a:t>
            </a:r>
            <a:endParaRPr dirty="0"/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CPU Utilization</a:t>
            </a:r>
            <a:endParaRPr dirty="0"/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Memory footprint</a:t>
            </a:r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Latency</a:t>
            </a:r>
          </a:p>
          <a:p>
            <a:pPr marL="914400" lvl="1" indent="-334328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Network Bandwidth</a:t>
            </a:r>
          </a:p>
          <a:p>
            <a:pPr marL="580072" indent="-457200">
              <a:spcBef>
                <a:spcPts val="0"/>
              </a:spcBef>
              <a:buSzPct val="64286"/>
              <a:buFont typeface="Wingdings" pitchFamily="2" charset="2"/>
              <a:buChar char="v"/>
            </a:pPr>
            <a:endParaRPr lang="en-US" dirty="0"/>
          </a:p>
          <a:p>
            <a:pPr marL="580072" indent="-457200">
              <a:spcBef>
                <a:spcPts val="0"/>
              </a:spcBef>
              <a:buSzPct val="64286"/>
              <a:buFont typeface="Wingdings" pitchFamily="2" charset="2"/>
              <a:buChar char="v"/>
            </a:pPr>
            <a:r>
              <a:rPr lang="en-US" sz="3300" dirty="0"/>
              <a:t>Use Cases</a:t>
            </a:r>
          </a:p>
          <a:p>
            <a:pPr lvl="1">
              <a:buFont typeface="Wingdings" pitchFamily="2" charset="2"/>
              <a:buChar char="Ø"/>
            </a:pPr>
            <a:r>
              <a:rPr lang="en-US" sz="2500" b="1" dirty="0"/>
              <a:t>Sensor aggregation: </a:t>
            </a:r>
            <a:r>
              <a:rPr lang="en-US" sz="2500" dirty="0"/>
              <a:t>Many devices send telemetry to one edge gateway.</a:t>
            </a:r>
          </a:p>
          <a:p>
            <a:pPr lvl="1">
              <a:buFont typeface="Wingdings" pitchFamily="2" charset="2"/>
              <a:buChar char="Ø"/>
            </a:pPr>
            <a:r>
              <a:rPr lang="en-US" sz="2500" b="1" dirty="0"/>
              <a:t>Fleet status collection</a:t>
            </a:r>
            <a:r>
              <a:rPr lang="en-US" sz="2500" dirty="0"/>
              <a:t>: Robots or distributed agents report state to one controller.</a:t>
            </a:r>
          </a:p>
          <a:p>
            <a:pPr lvl="1">
              <a:buFont typeface="Wingdings" pitchFamily="2" charset="2"/>
              <a:buChar char="Ø"/>
            </a:pPr>
            <a:r>
              <a:rPr lang="en-US" sz="2500" b="1" dirty="0"/>
              <a:t>Industrial data ingest</a:t>
            </a:r>
            <a:r>
              <a:rPr lang="en-US" sz="2500" dirty="0"/>
              <a:t>: Machines publish measurements to one local processing stream.</a:t>
            </a:r>
          </a:p>
          <a:p>
            <a:pPr indent="-334328">
              <a:spcBef>
                <a:spcPts val="0"/>
              </a:spcBef>
              <a:buSzPct val="64286"/>
              <a:buChar char="➢"/>
            </a:pPr>
            <a:endParaRPr dirty="0"/>
          </a:p>
        </p:txBody>
      </p:sp>
      <p:sp>
        <p:nvSpPr>
          <p:cNvPr id="99" name="Google Shape;99;p12"/>
          <p:cNvSpPr txBox="1">
            <a:spLocks noGrp="1"/>
          </p:cNvSpPr>
          <p:nvPr>
            <p:ph type="sldNum" idx="12"/>
          </p:nvPr>
        </p:nvSpPr>
        <p:spPr>
          <a:xfrm>
            <a:off x="3498112" y="6356350"/>
            <a:ext cx="21336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CB9F9E-8C02-56F7-CDD4-92ED921F74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112" y="2947168"/>
            <a:ext cx="5407602" cy="218363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Fan-In: What We Expect</a:t>
            </a:r>
            <a:endParaRPr/>
          </a:p>
        </p:txBody>
      </p:sp>
      <p:sp>
        <p:nvSpPr>
          <p:cNvPr id="107" name="Google Shape;107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686800" cy="4526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50044" algn="l" rtl="0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Expect to see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Fan-in</a:t>
            </a:r>
            <a:r>
              <a:rPr lang="en-US" dirty="0"/>
              <a:t> is cheaper than fan-out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Throughput still drops vs 1-to-1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Shared-topic contention increases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CPU rises with publisher count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Latency rises gradually</a:t>
            </a:r>
            <a:endParaRPr dirty="0"/>
          </a:p>
          <a:p>
            <a:pPr marL="457200" lvl="0" indent="0" algn="l" rtl="0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50044" algn="l" rtl="0">
              <a:lnSpc>
                <a:spcPct val="115000"/>
              </a:lnSpc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We learn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Which</a:t>
            </a:r>
            <a:r>
              <a:rPr lang="en-US" dirty="0"/>
              <a:t> brokers are </a:t>
            </a:r>
            <a:r>
              <a:rPr lang="en-US" b="1" dirty="0"/>
              <a:t>best</a:t>
            </a:r>
            <a:r>
              <a:rPr lang="en-US" dirty="0"/>
              <a:t> for </a:t>
            </a:r>
            <a:r>
              <a:rPr lang="en-US" b="1" dirty="0"/>
              <a:t>aggregation</a:t>
            </a:r>
            <a:endParaRPr b="1"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Cost</a:t>
            </a:r>
            <a:r>
              <a:rPr lang="en-US" dirty="0"/>
              <a:t> of hot </a:t>
            </a:r>
            <a:r>
              <a:rPr lang="en-US" b="1" dirty="0"/>
              <a:t>shared-topic </a:t>
            </a:r>
            <a:r>
              <a:rPr lang="en-US" dirty="0"/>
              <a:t>ingest</a:t>
            </a:r>
            <a:endParaRPr dirty="0"/>
          </a:p>
          <a:p>
            <a:pPr marL="914400" lvl="1" indent="-32575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Whether </a:t>
            </a:r>
            <a:r>
              <a:rPr lang="en-US" b="1" dirty="0"/>
              <a:t>ingress</a:t>
            </a:r>
            <a:r>
              <a:rPr lang="en-US" dirty="0"/>
              <a:t> or </a:t>
            </a:r>
            <a:r>
              <a:rPr lang="en-US" b="1" dirty="0"/>
              <a:t>topic</a:t>
            </a:r>
            <a:r>
              <a:rPr lang="en-US" dirty="0"/>
              <a:t> handling is the </a:t>
            </a:r>
            <a:r>
              <a:rPr lang="en-US" b="1" dirty="0"/>
              <a:t>bottleneck</a:t>
            </a:r>
            <a:endParaRPr b="1" dirty="0"/>
          </a:p>
        </p:txBody>
      </p:sp>
      <p:sp>
        <p:nvSpPr>
          <p:cNvPr id="108" name="Google Shape;108;p13"/>
          <p:cNvSpPr txBox="1">
            <a:spLocks noGrp="1"/>
          </p:cNvSpPr>
          <p:nvPr>
            <p:ph type="sldNum" idx="12"/>
          </p:nvPr>
        </p:nvSpPr>
        <p:spPr>
          <a:xfrm>
            <a:off x="3498112" y="6356350"/>
            <a:ext cx="21336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4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US" sz="3460"/>
              <a:t>Experiment 3: Bursty Controlled Fan-Out</a:t>
            </a:r>
            <a:endParaRPr sz="3460"/>
          </a:p>
        </p:txBody>
      </p:sp>
      <p:sp>
        <p:nvSpPr>
          <p:cNvPr id="115" name="Google Shape;115;p14"/>
          <p:cNvSpPr txBox="1">
            <a:spLocks noGrp="1"/>
          </p:cNvSpPr>
          <p:nvPr>
            <p:ph type="body" idx="1"/>
          </p:nvPr>
        </p:nvSpPr>
        <p:spPr>
          <a:xfrm>
            <a:off x="159550" y="1600200"/>
            <a:ext cx="8686800" cy="5257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92500" lnSpcReduction="20000"/>
          </a:bodyPr>
          <a:lstStyle/>
          <a:p>
            <a:pPr marL="457200" lvl="0" indent="-350044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Research question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How do </a:t>
            </a:r>
            <a:r>
              <a:rPr lang="en-US" b="1" dirty="0"/>
              <a:t>brokers behave</a:t>
            </a:r>
            <a:r>
              <a:rPr lang="en-US" dirty="0"/>
              <a:t> when </a:t>
            </a:r>
            <a:r>
              <a:rPr lang="en-US" b="1" dirty="0"/>
              <a:t>one-to-many </a:t>
            </a:r>
            <a:r>
              <a:rPr lang="en-US" dirty="0"/>
              <a:t>dissemination is combined with </a:t>
            </a:r>
            <a:r>
              <a:rPr lang="en-US" b="1" dirty="0"/>
              <a:t>bursty traffic</a:t>
            </a:r>
            <a:r>
              <a:rPr lang="en-US" dirty="0"/>
              <a:t> and recovery periods?</a:t>
            </a:r>
            <a:endParaRPr dirty="0"/>
          </a:p>
          <a:p>
            <a:pPr marL="91440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50044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Topology</a:t>
            </a:r>
            <a:endParaRPr dirty="0"/>
          </a:p>
          <a:p>
            <a:pPr lvl="1" indent="-325755">
              <a:spcBef>
                <a:spcPts val="0"/>
              </a:spcBef>
              <a:buSzPct val="64286"/>
              <a:buChar char="➢"/>
            </a:pPr>
            <a:r>
              <a:rPr lang="en-US" dirty="0"/>
              <a:t>20 publishers → broker → 2000 subscribers</a:t>
            </a:r>
          </a:p>
          <a:p>
            <a:pPr marL="91440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50044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Why this experiment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Exp 1 shows steady-state fan-out behavior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Exp 3 adds transient overload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this is closer to alarms, event bursts, and sudden telemetry spikes</a:t>
            </a:r>
            <a:endParaRPr dirty="0"/>
          </a:p>
        </p:txBody>
      </p:sp>
      <p:sp>
        <p:nvSpPr>
          <p:cNvPr id="116" name="Google Shape;116;p14"/>
          <p:cNvSpPr txBox="1">
            <a:spLocks noGrp="1"/>
          </p:cNvSpPr>
          <p:nvPr>
            <p:ph type="sldNum" idx="12"/>
          </p:nvPr>
        </p:nvSpPr>
        <p:spPr>
          <a:xfrm>
            <a:off x="3498112" y="6356350"/>
            <a:ext cx="21336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>
          <a:extLst>
            <a:ext uri="{FF2B5EF4-FFF2-40B4-BE49-F238E27FC236}">
              <a16:creationId xmlns:a16="http://schemas.microsoft.com/office/drawing/2014/main" id="{0F4894D2-5968-75EF-1559-93F607901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4">
            <a:extLst>
              <a:ext uri="{FF2B5EF4-FFF2-40B4-BE49-F238E27FC236}">
                <a16:creationId xmlns:a16="http://schemas.microsoft.com/office/drawing/2014/main" id="{FD9AFD6E-E628-EE3D-08B2-3F652F8AD3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US" sz="3460"/>
              <a:t>Experiment 3: Bursty Controlled Fan-Out</a:t>
            </a:r>
            <a:endParaRPr sz="3460"/>
          </a:p>
        </p:txBody>
      </p:sp>
      <p:sp>
        <p:nvSpPr>
          <p:cNvPr id="115" name="Google Shape;115;p14">
            <a:extLst>
              <a:ext uri="{FF2B5EF4-FFF2-40B4-BE49-F238E27FC236}">
                <a16:creationId xmlns:a16="http://schemas.microsoft.com/office/drawing/2014/main" id="{3F9D99BC-F5A6-BA88-AC9F-54CF8C66E9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59550" y="1600200"/>
            <a:ext cx="8686800" cy="5257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77500" lnSpcReduction="20000"/>
          </a:bodyPr>
          <a:lstStyle/>
          <a:p>
            <a:pPr marL="457200" lvl="0" indent="-350044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Research question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How do </a:t>
            </a:r>
            <a:r>
              <a:rPr lang="en-US" b="1" dirty="0"/>
              <a:t>brokers behave</a:t>
            </a:r>
            <a:r>
              <a:rPr lang="en-US" dirty="0"/>
              <a:t> when </a:t>
            </a:r>
            <a:r>
              <a:rPr lang="en-US" b="1" dirty="0"/>
              <a:t>one-to-many </a:t>
            </a:r>
            <a:r>
              <a:rPr lang="en-US" dirty="0"/>
              <a:t>dissemination is combined with </a:t>
            </a:r>
            <a:r>
              <a:rPr lang="en-US" b="1" dirty="0"/>
              <a:t>bursty traffic</a:t>
            </a:r>
            <a:r>
              <a:rPr lang="en-US" dirty="0"/>
              <a:t> and recovery periods?</a:t>
            </a:r>
            <a:endParaRPr dirty="0"/>
          </a:p>
          <a:p>
            <a:pPr marL="91440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50044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Topology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Same as Exp 1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P publishers → S subscribers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shared topic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P = max(1, ceil(S / 100))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S = 1000</a:t>
            </a:r>
            <a:endParaRPr dirty="0"/>
          </a:p>
          <a:p>
            <a:pPr marL="91440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50044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Why this experiment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Exp 1 shows steady-state fan-out behavior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Exp 3 adds transient overload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this is closer to alarms, event bursts, and sudden telemetry spikes</a:t>
            </a:r>
            <a:endParaRPr dirty="0"/>
          </a:p>
        </p:txBody>
      </p:sp>
      <p:sp>
        <p:nvSpPr>
          <p:cNvPr id="116" name="Google Shape;116;p14">
            <a:extLst>
              <a:ext uri="{FF2B5EF4-FFF2-40B4-BE49-F238E27FC236}">
                <a16:creationId xmlns:a16="http://schemas.microsoft.com/office/drawing/2014/main" id="{4A56C496-0292-B66E-9B52-8BFBB9E9387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498112" y="6356350"/>
            <a:ext cx="21336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31885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F3EB944-7250-6489-E8BA-D7FD07569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E4193-3005-6603-4C66-D3BE80C4E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cases of Bursty Fan-Out Topology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E5811-5E6E-D82C-73F9-D56A145B94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2096" y="1664208"/>
            <a:ext cx="8485632" cy="4756150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Emergency alert dissemination</a:t>
            </a:r>
          </a:p>
          <a:p>
            <a:pPr lvl="1"/>
            <a:r>
              <a:rPr lang="en-US" dirty="0"/>
              <a:t>one event suddenly triggers notifications to many receivers at once</a:t>
            </a:r>
          </a:p>
          <a:p>
            <a:pPr lvl="1"/>
            <a:endParaRPr lang="en-US" dirty="0"/>
          </a:p>
          <a:p>
            <a:r>
              <a:rPr lang="en-US" b="1" dirty="0"/>
              <a:t>Intrusion or alarm broadcast</a:t>
            </a:r>
          </a:p>
          <a:p>
            <a:pPr lvl="1"/>
            <a:r>
              <a:rPr lang="en-US" dirty="0"/>
              <a:t>a monitoring system pushes urgent alerts to multiple downstream systems simultaneously</a:t>
            </a:r>
          </a:p>
          <a:p>
            <a:pPr marL="571500" lvl="1" indent="0">
              <a:buNone/>
            </a:pPr>
            <a:endParaRPr lang="en-US" b="1" dirty="0"/>
          </a:p>
          <a:p>
            <a:r>
              <a:rPr lang="en-US" b="1" dirty="0"/>
              <a:t>Traffic / airspace advisory push</a:t>
            </a:r>
          </a:p>
          <a:p>
            <a:pPr lvl="1"/>
            <a:r>
              <a:rPr lang="en-US" dirty="0"/>
              <a:t>a sudden event causes one publisher to send time-sensitive updates to many consumers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7D1EAA-AE8D-A5B9-F793-FDA37D0449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6610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5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US" sz="3260" dirty="0"/>
              <a:t>Experiment 3: Bursty Traffic Profile</a:t>
            </a:r>
            <a:endParaRPr sz="3260" dirty="0"/>
          </a:p>
        </p:txBody>
      </p:sp>
      <p:sp>
        <p:nvSpPr>
          <p:cNvPr id="123" name="Google Shape;123;p15"/>
          <p:cNvSpPr txBox="1">
            <a:spLocks noGrp="1"/>
          </p:cNvSpPr>
          <p:nvPr>
            <p:ph type="body" idx="1"/>
          </p:nvPr>
        </p:nvSpPr>
        <p:spPr>
          <a:xfrm>
            <a:off x="160867" y="1486988"/>
            <a:ext cx="8771933" cy="5371012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50044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Traffic phases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Warmup</a:t>
            </a:r>
            <a:r>
              <a:rPr lang="en-US" dirty="0"/>
              <a:t>: 60 s @ 10 msg/s per publisher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Loll</a:t>
            </a:r>
            <a:r>
              <a:rPr lang="en-US" dirty="0"/>
              <a:t>: 60 s @ 10 msg/s per publisher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b="1" dirty="0"/>
              <a:t>Burst</a:t>
            </a:r>
            <a:r>
              <a:rPr lang="en-US" dirty="0"/>
              <a:t>: 120 s @ 30 msg/s per publisher</a:t>
            </a:r>
            <a:endParaRPr dirty="0"/>
          </a:p>
          <a:p>
            <a:pPr lvl="1" indent="-325755">
              <a:spcBef>
                <a:spcPts val="0"/>
              </a:spcBef>
              <a:buSzPct val="64286"/>
              <a:buChar char="➢"/>
            </a:pPr>
            <a:r>
              <a:rPr lang="en-US" b="1" dirty="0"/>
              <a:t>Recovery</a:t>
            </a:r>
            <a:r>
              <a:rPr lang="en-US" dirty="0"/>
              <a:t>: 60 s @ 10 msg/s per publisher</a:t>
            </a:r>
          </a:p>
          <a:p>
            <a:pPr marL="588645" lvl="1" indent="0">
              <a:spcBef>
                <a:spcPts val="0"/>
              </a:spcBef>
              <a:buSzPct val="64286"/>
              <a:buNone/>
            </a:pPr>
            <a:endParaRPr lang="en-US" dirty="0"/>
          </a:p>
          <a:p>
            <a:pPr marL="588645" indent="-457200">
              <a:spcBef>
                <a:spcPts val="0"/>
              </a:spcBef>
              <a:buSzPct val="64286"/>
              <a:buFont typeface="Wingdings" pitchFamily="2" charset="2"/>
              <a:buChar char="v"/>
            </a:pPr>
            <a:r>
              <a:rPr lang="en-US" sz="2800" dirty="0"/>
              <a:t>Metrices:</a:t>
            </a:r>
          </a:p>
          <a:p>
            <a:pPr marL="1045845" lvl="1" indent="-457200">
              <a:spcBef>
                <a:spcPts val="0"/>
              </a:spcBef>
              <a:buSzPct val="64286"/>
              <a:buFont typeface="Wingdings" pitchFamily="2" charset="2"/>
              <a:buChar char="Ø"/>
            </a:pPr>
            <a:r>
              <a:rPr lang="en-US" sz="2000" dirty="0"/>
              <a:t>Delivery Throughput</a:t>
            </a:r>
          </a:p>
          <a:p>
            <a:pPr marL="1045845" lvl="1" indent="-457200">
              <a:spcBef>
                <a:spcPts val="0"/>
              </a:spcBef>
              <a:buSzPct val="64286"/>
              <a:buFont typeface="Wingdings" pitchFamily="2" charset="2"/>
              <a:buChar char="Ø"/>
            </a:pPr>
            <a:r>
              <a:rPr lang="en-US" sz="2000" dirty="0"/>
              <a:t>CPU Utilization</a:t>
            </a:r>
          </a:p>
          <a:p>
            <a:pPr marL="1045845" lvl="1" indent="-457200">
              <a:spcBef>
                <a:spcPts val="0"/>
              </a:spcBef>
              <a:buSzPct val="64286"/>
              <a:buFont typeface="Wingdings" pitchFamily="2" charset="2"/>
              <a:buChar char="Ø"/>
            </a:pPr>
            <a:r>
              <a:rPr lang="en-US" sz="2000" dirty="0"/>
              <a:t>Memory Usage</a:t>
            </a:r>
          </a:p>
          <a:p>
            <a:pPr marL="1045845" lvl="1" indent="-457200">
              <a:spcBef>
                <a:spcPts val="0"/>
              </a:spcBef>
              <a:buSzPct val="64286"/>
              <a:buFont typeface="Wingdings" pitchFamily="2" charset="2"/>
              <a:buChar char="Ø"/>
            </a:pPr>
            <a:r>
              <a:rPr lang="en-US" sz="2000" dirty="0"/>
              <a:t>Latency</a:t>
            </a:r>
          </a:p>
          <a:p>
            <a:pPr marL="1045845" lvl="1" indent="-457200">
              <a:spcBef>
                <a:spcPts val="0"/>
              </a:spcBef>
              <a:buSzPct val="64286"/>
              <a:buFont typeface="Wingdings" pitchFamily="2" charset="2"/>
              <a:buChar char="Ø"/>
            </a:pPr>
            <a:r>
              <a:rPr lang="en-US" sz="2000" dirty="0"/>
              <a:t>Network Bandwidth</a:t>
            </a:r>
          </a:p>
          <a:p>
            <a:pPr marL="1045845" lvl="1" indent="-457200">
              <a:spcBef>
                <a:spcPts val="0"/>
              </a:spcBef>
              <a:buSzPct val="64286"/>
              <a:buFont typeface="Wingdings" pitchFamily="2" charset="2"/>
              <a:buChar char="Ø"/>
            </a:pPr>
            <a:endParaRPr lang="en-US" dirty="0"/>
          </a:p>
          <a:p>
            <a:pPr marL="588645" indent="-457200">
              <a:spcBef>
                <a:spcPts val="0"/>
              </a:spcBef>
              <a:buSzPct val="64286"/>
              <a:buFont typeface="Wingdings" pitchFamily="2" charset="2"/>
              <a:buChar char="v"/>
            </a:pPr>
            <a:endParaRPr dirty="0"/>
          </a:p>
        </p:txBody>
      </p:sp>
      <p:sp>
        <p:nvSpPr>
          <p:cNvPr id="124" name="Google Shape;124;p15"/>
          <p:cNvSpPr txBox="1">
            <a:spLocks noGrp="1"/>
          </p:cNvSpPr>
          <p:nvPr>
            <p:ph type="sldNum" idx="12"/>
          </p:nvPr>
        </p:nvSpPr>
        <p:spPr>
          <a:xfrm>
            <a:off x="3498112" y="6356350"/>
            <a:ext cx="21336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591B7D2-6D5E-673B-9674-BEE3CEF08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113" y="3920111"/>
            <a:ext cx="5622716" cy="259266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75F2A-EB4E-05A7-613D-00BFDCE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9DDE6-C2FB-2962-FA55-AFEFBB44E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Exp 4: Payload Sensitivity in Shared-Topic Workloads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58973B-999D-E63C-59B8-E24745BAE4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sz="2400" b="1" dirty="0"/>
              <a:t>Research question</a:t>
            </a:r>
          </a:p>
          <a:p>
            <a:pPr lvl="1">
              <a:buFont typeface="Wingdings" pitchFamily="2" charset="2"/>
              <a:buChar char="v"/>
            </a:pPr>
            <a:r>
              <a:rPr lang="en-US" sz="2000" dirty="0"/>
              <a:t>How does message payload size affect broker performance in shared-topic communication patterns such as </a:t>
            </a:r>
            <a:r>
              <a:rPr lang="en-US" sz="2000" b="1" dirty="0"/>
              <a:t>fan-in</a:t>
            </a:r>
            <a:r>
              <a:rPr lang="en-US" sz="2000" dirty="0"/>
              <a:t> and </a:t>
            </a:r>
            <a:r>
              <a:rPr lang="en-US" sz="2000" b="1" dirty="0"/>
              <a:t>fan-out</a:t>
            </a:r>
            <a:r>
              <a:rPr lang="en-US" sz="2000" dirty="0"/>
              <a:t>?</a:t>
            </a:r>
          </a:p>
          <a:p>
            <a:pPr>
              <a:buFont typeface="Wingdings" pitchFamily="2" charset="2"/>
              <a:buChar char="v"/>
            </a:pPr>
            <a:endParaRPr lang="en-US" sz="2400" dirty="0"/>
          </a:p>
          <a:p>
            <a:pPr>
              <a:buFont typeface="Wingdings" pitchFamily="2" charset="2"/>
              <a:buChar char="v"/>
            </a:pPr>
            <a:r>
              <a:rPr lang="en-US" sz="2400" dirty="0"/>
              <a:t>Why this experiment?</a:t>
            </a:r>
          </a:p>
          <a:p>
            <a:pPr lvl="1">
              <a:buFont typeface="Wingdings" pitchFamily="2" charset="2"/>
              <a:buChar char="v"/>
            </a:pPr>
            <a:r>
              <a:rPr lang="en-US" sz="2000" dirty="0"/>
              <a:t>Previous paper studied payload size only in small-scale latency tests </a:t>
            </a:r>
          </a:p>
          <a:p>
            <a:pPr lvl="1">
              <a:buFont typeface="Wingdings" pitchFamily="2" charset="2"/>
              <a:buChar char="v"/>
            </a:pPr>
            <a:r>
              <a:rPr lang="en-US" sz="2000" dirty="0"/>
              <a:t>This experiment checks whether broker rankings change when </a:t>
            </a:r>
            <a:r>
              <a:rPr lang="en-US" sz="2000" b="1" dirty="0"/>
              <a:t>payload size</a:t>
            </a:r>
            <a:r>
              <a:rPr lang="en-US" sz="2000" dirty="0"/>
              <a:t> and </a:t>
            </a:r>
            <a:r>
              <a:rPr lang="en-US" sz="2000" b="1" dirty="0"/>
              <a:t>shared-topic topology</a:t>
            </a:r>
            <a:r>
              <a:rPr lang="en-US" sz="2000" dirty="0"/>
              <a:t> interact</a:t>
            </a:r>
          </a:p>
          <a:p>
            <a:pPr marL="571500" lvl="1" indent="0">
              <a:buNone/>
            </a:pPr>
            <a:endParaRPr lang="en-US" sz="2000" dirty="0"/>
          </a:p>
          <a:p>
            <a:pPr>
              <a:buFont typeface="Wingdings" pitchFamily="2" charset="2"/>
              <a:buChar char="v"/>
            </a:pPr>
            <a:r>
              <a:rPr lang="en-US" sz="2400" b="1" dirty="0"/>
              <a:t>Topologies</a:t>
            </a:r>
            <a:endParaRPr lang="en-US" sz="100" dirty="0"/>
          </a:p>
          <a:p>
            <a:pPr lvl="1">
              <a:buFont typeface="Wingdings" pitchFamily="2" charset="2"/>
              <a:buChar char="v"/>
            </a:pPr>
            <a:r>
              <a:rPr lang="en-US" sz="2000" b="1" dirty="0"/>
              <a:t>Fan-Out:</a:t>
            </a:r>
            <a:r>
              <a:rPr lang="en-US" sz="2000" dirty="0"/>
              <a:t> 10 publishers → 1000 subscribers, shared topic </a:t>
            </a:r>
          </a:p>
          <a:p>
            <a:pPr lvl="1">
              <a:buFont typeface="Wingdings" pitchFamily="2" charset="2"/>
              <a:buChar char="v"/>
            </a:pPr>
            <a:r>
              <a:rPr lang="en-US" sz="2000" b="1" dirty="0"/>
              <a:t>Fan-In:</a:t>
            </a:r>
            <a:r>
              <a:rPr lang="en-US" sz="2000" dirty="0"/>
              <a:t> 1000 publishers → 1 subscriber, shared topic</a:t>
            </a:r>
          </a:p>
          <a:p>
            <a:pPr>
              <a:buFont typeface="Wingdings" pitchFamily="2" charset="2"/>
              <a:buChar char="v"/>
            </a:pPr>
            <a:endParaRPr lang="en-US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4AF92A-8AF0-C9DB-48E6-7C9485ECACC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973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054BC-F4F5-B09A-7990-20E912B6B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98CA1-EF0C-7BAD-3861-153E201751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Payload Sensitivity in Shared-Topic Workloads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465653-DCB9-64B1-0954-E5B5096CFA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199"/>
            <a:ext cx="8229600" cy="4817533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v"/>
            </a:pPr>
            <a:r>
              <a:rPr lang="en-US" sz="2400" dirty="0"/>
              <a:t>Common parameters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Rate per publisher: </a:t>
            </a:r>
            <a:r>
              <a:rPr lang="en-US" sz="1800" b="1" dirty="0"/>
              <a:t>10 msg/s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Duration: </a:t>
            </a:r>
            <a:r>
              <a:rPr lang="en-US" sz="1800" b="1" dirty="0"/>
              <a:t>120 s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Warmup: </a:t>
            </a:r>
            <a:r>
              <a:rPr lang="en-US" sz="1800" b="1" dirty="0"/>
              <a:t>60 s</a:t>
            </a:r>
            <a:r>
              <a:rPr lang="en-US" sz="1800" dirty="0"/>
              <a:t> 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QoS: </a:t>
            </a:r>
            <a:r>
              <a:rPr lang="en-US" sz="1800" b="1" dirty="0"/>
              <a:t>0</a:t>
            </a:r>
          </a:p>
          <a:p>
            <a:pPr lvl="1">
              <a:buFont typeface="Wingdings" pitchFamily="2" charset="2"/>
              <a:buChar char="v"/>
            </a:pPr>
            <a:r>
              <a:rPr lang="en-US" sz="1800" dirty="0"/>
              <a:t>Metrics: p95 Latency</a:t>
            </a:r>
          </a:p>
          <a:p>
            <a:pPr marL="571500" lvl="1" indent="0">
              <a:buNone/>
            </a:pPr>
            <a:endParaRPr lang="en-US" sz="1800" dirty="0"/>
          </a:p>
          <a:p>
            <a:pPr marL="571500" lvl="1" indent="0">
              <a:buNone/>
            </a:pPr>
            <a:endParaRPr lang="en-US" sz="1800" dirty="0"/>
          </a:p>
          <a:p>
            <a:pPr>
              <a:buFont typeface="Wingdings" pitchFamily="2" charset="2"/>
              <a:buChar char="v"/>
            </a:pPr>
            <a:r>
              <a:rPr lang="en-US" sz="2400" dirty="0"/>
              <a:t>Example Use Cases</a:t>
            </a:r>
          </a:p>
          <a:p>
            <a:pPr lvl="1">
              <a:buFont typeface="Wingdings" pitchFamily="2" charset="2"/>
              <a:buChar char="Ø"/>
            </a:pPr>
            <a:r>
              <a:rPr lang="en-US" sz="1800" b="1" dirty="0"/>
              <a:t>Small telemetry</a:t>
            </a:r>
            <a:br>
              <a:rPr lang="en-US" sz="1800" dirty="0"/>
            </a:br>
            <a:r>
              <a:rPr lang="en-US" sz="1800" dirty="0"/>
              <a:t>Temperature, humidity, status flags.</a:t>
            </a:r>
          </a:p>
          <a:p>
            <a:pPr lvl="1">
              <a:buFont typeface="Wingdings" pitchFamily="2" charset="2"/>
              <a:buChar char="Ø"/>
            </a:pPr>
            <a:r>
              <a:rPr lang="en-US" sz="1800" b="1" dirty="0"/>
              <a:t>Rich industrial messages</a:t>
            </a:r>
            <a:br>
              <a:rPr lang="en-US" sz="1800" dirty="0"/>
            </a:br>
            <a:r>
              <a:rPr lang="en-US" sz="1800" dirty="0"/>
              <a:t>Diagnostics, metadata, alarms, state snapshots.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1EED26-2341-180C-6A23-64670D061A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0762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CA4DA-5081-353B-D37A-1D1893968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Fan Out Initial Result (Throughput)</a:t>
            </a:r>
            <a:br>
              <a:rPr lang="en-US" dirty="0"/>
            </a:br>
            <a:r>
              <a:rPr lang="en-US" dirty="0"/>
              <a:t>(4 vCPU, 8 GB RAM)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DDBD77-1783-5D27-535B-30C1225FC81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720DFE-2355-95BC-9AF3-95EEB8D7BA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053" y="1846999"/>
            <a:ext cx="7772400" cy="45093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B599E0E-0A4C-6B95-F774-755195E476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308" y="1526432"/>
            <a:ext cx="7772400" cy="222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11612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64A6B-C3A7-C4B8-57CE-750BAE4FC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85C61-358A-6AFA-9E07-7977DC067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Bursty Fan Out</a:t>
            </a:r>
            <a:br>
              <a:rPr lang="en-US" dirty="0"/>
            </a:br>
            <a:r>
              <a:rPr lang="en-US" dirty="0"/>
              <a:t>Experimental Setup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2E2B44-295A-1B6C-0354-CFB89C3691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vCPU, 8 GB RAM</a:t>
            </a:r>
          </a:p>
          <a:p>
            <a:r>
              <a:rPr lang="en-US" dirty="0"/>
              <a:t>Subscriber: 2000, Publisher: 20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64A483-E2D8-EAD0-33D7-79FA9F7AB5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829C0B-6BE4-9A2E-995D-7BB5320415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38875"/>
            <a:ext cx="7772400" cy="2134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8532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02F09-AE4B-29C0-E770-02D631FAA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831A9-7A64-48E8-E135-53A7006E0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Delivery Throughput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50E26-DE1A-A75C-C55D-6B7CDF2F4FE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B6CB80-4D19-CF76-9917-C3A034E15A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424" y="2271832"/>
            <a:ext cx="7040150" cy="408451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E9A5FA-24AA-E6B7-135E-DCDCA25B6F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3320" y="1704670"/>
            <a:ext cx="5482358" cy="404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3374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227275-EB69-0BA1-E76C-A4A9EC25BC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42BA-1FC5-EF74-4CB6-8F46DF82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Average Latency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54940B-7598-DF97-9E6E-41AA26F5C99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7D2CA5-ADE4-917E-31EF-23183C3380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977" y="2220482"/>
            <a:ext cx="6552045" cy="379028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87337F1-2D26-6ECC-692C-61CAA9FC87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8384" y="1640986"/>
            <a:ext cx="5482358" cy="404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0213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2D6A4-9624-DE19-45A6-C9B57335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72C90-63D6-DA47-7308-56C945B4D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CPU Usage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62BB8-0082-C77A-4EE5-4AB5398CF86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6AFE3D7-A07E-1468-54E4-C59FA858D8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623" y="2108793"/>
            <a:ext cx="6786754" cy="39375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503FECA-3A02-C91D-E11D-601F14B6D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3320" y="1704670"/>
            <a:ext cx="5482358" cy="404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4772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D38B1E6-AB0E-2E4E-9AE8-954C0837A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28D2F-B787-E6A8-3CDC-44355CB51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Network Bandwidth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03C25-C944-46FE-4BB2-0FC27234D83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29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7BD64D8-6E86-3FD8-79BD-91268494F4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224" y="2228141"/>
            <a:ext cx="7115457" cy="41282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150625B-F485-5946-A9CF-65DD4BC6C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6203" y="1559709"/>
            <a:ext cx="5482358" cy="404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0345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A2E0523-EACE-4C16-52C0-B4B357B2B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48E69A-613A-E0DE-72A4-C6D4B7598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Footprint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A4C91-DF56-3CA3-6ABF-B8B1F500EB9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1C5CE0E-F0A6-1DD9-3F2D-6F62CDAD7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12" y="1815264"/>
            <a:ext cx="7772400" cy="3828341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404EA57E-8610-F1A4-980C-408B3E651DCD}"/>
              </a:ext>
            </a:extLst>
          </p:cNvPr>
          <p:cNvSpPr txBox="1">
            <a:spLocks/>
          </p:cNvSpPr>
          <p:nvPr/>
        </p:nvSpPr>
        <p:spPr>
          <a:xfrm>
            <a:off x="308517" y="5962058"/>
            <a:ext cx="8526966" cy="78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71475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2250"/>
              <a:buFont typeface="Arial"/>
              <a:buChar char="•"/>
              <a:defRPr sz="3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8000"/>
              </a:buClr>
              <a:buSzPts val="1800"/>
              <a:buFont typeface="Noto Sans Symbols"/>
              <a:buChar char="▪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8000"/>
              </a:buClr>
              <a:buSzPts val="1800"/>
              <a:buFont typeface="Courier New"/>
              <a:buChar char="o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8000"/>
              </a:buClr>
              <a:buSzPts val="18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8000"/>
              </a:buClr>
              <a:buSzPts val="18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85725" indent="0">
              <a:buNone/>
            </a:pPr>
            <a:r>
              <a:rPr lang="en-US" sz="1600" dirty="0"/>
              <a:t>NATS and Artemis consume GiBs, suggesting queued work or pressure rather than clean burst handling.</a:t>
            </a:r>
            <a:endParaRPr lang="en-US" sz="100" dirty="0"/>
          </a:p>
        </p:txBody>
      </p:sp>
    </p:spTree>
    <p:extLst>
      <p:ext uri="{BB962C8B-B14F-4D97-AF65-F5344CB8AC3E}">
        <p14:creationId xmlns:p14="http://schemas.microsoft.com/office/powerpoint/2010/main" val="7912677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C3227-6FC5-D5F6-6FB7-972667DA1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 cases of Payload Sensitivity Experiment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A5C65B-628D-A9AA-05E2-34A94A25C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756150"/>
          </a:xfrm>
        </p:spPr>
        <p:txBody>
          <a:bodyPr>
            <a:normAutofit fontScale="92500"/>
          </a:bodyPr>
          <a:lstStyle/>
          <a:p>
            <a:r>
              <a:rPr lang="en-US" b="1" dirty="0"/>
              <a:t>Small telemetry vs rich industrial messages</a:t>
            </a:r>
          </a:p>
          <a:p>
            <a:pPr lvl="1"/>
            <a:r>
              <a:rPr lang="en-US" dirty="0"/>
              <a:t>a simple </a:t>
            </a:r>
            <a:r>
              <a:rPr lang="en-US" b="1" dirty="0"/>
              <a:t>temperature reading </a:t>
            </a:r>
            <a:r>
              <a:rPr lang="en-US" dirty="0"/>
              <a:t>may be only a </a:t>
            </a:r>
            <a:r>
              <a:rPr lang="en-US" b="1" dirty="0"/>
              <a:t>few</a:t>
            </a:r>
            <a:r>
              <a:rPr lang="en-US" dirty="0"/>
              <a:t> bytes, while a machine-health update may include timestamps, metadata, alarms, and structured diagnostics</a:t>
            </a:r>
          </a:p>
          <a:p>
            <a:endParaRPr lang="en-US" dirty="0"/>
          </a:p>
          <a:p>
            <a:r>
              <a:rPr lang="en-US" b="1" dirty="0"/>
              <a:t>Control command vs state snapshot</a:t>
            </a:r>
          </a:p>
          <a:p>
            <a:pPr lvl="1"/>
            <a:r>
              <a:rPr lang="en-US" dirty="0"/>
              <a:t>a short command like “stop” or “set speed” is </a:t>
            </a:r>
            <a:r>
              <a:rPr lang="en-US" b="1" dirty="0"/>
              <a:t>tiny</a:t>
            </a:r>
            <a:r>
              <a:rPr lang="en-US" dirty="0"/>
              <a:t>, but a full equipment state or route update is much larger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F10763-2F84-9447-00AD-89B36D9F8DA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1385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17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8229600" cy="11430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Expected Hypotheses</a:t>
            </a:r>
            <a:endParaRPr/>
          </a:p>
        </p:txBody>
      </p:sp>
      <p:sp>
        <p:nvSpPr>
          <p:cNvPr id="140" name="Google Shape;140;p17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94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 fontScale="85000" lnSpcReduction="20000"/>
          </a:bodyPr>
          <a:lstStyle/>
          <a:p>
            <a:pPr marL="457200" lvl="0" indent="-350044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H1: Fan-in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Shared-topic aggregation will reduce throughput relative to isolated 1-to-1</a:t>
            </a:r>
            <a:endParaRPr dirty="0"/>
          </a:p>
          <a:p>
            <a:pPr marL="45720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50044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H2: Controlled fan-out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Fan-out will stress brokers more than fan-in because each message must be replicated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Multi-threaded brokers should handle replication better</a:t>
            </a:r>
            <a:endParaRPr dirty="0"/>
          </a:p>
          <a:p>
            <a:pPr marL="45720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50044" algn="l" rtl="0">
              <a:spcBef>
                <a:spcPts val="360"/>
              </a:spcBef>
              <a:spcAft>
                <a:spcPts val="0"/>
              </a:spcAft>
              <a:buSzPct val="66176"/>
              <a:buChar char="❖"/>
            </a:pPr>
            <a:r>
              <a:rPr lang="en-US" dirty="0"/>
              <a:t>H3: Bursty controlled fan-out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Tail latency will rise sharply during bursts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Some brokers may sustain throughput but recover slowly</a:t>
            </a:r>
            <a:endParaRPr dirty="0"/>
          </a:p>
          <a:p>
            <a:pPr marL="914400" lvl="1" indent="-325755" algn="l" rtl="0">
              <a:spcBef>
                <a:spcPts val="0"/>
              </a:spcBef>
              <a:spcAft>
                <a:spcPts val="0"/>
              </a:spcAft>
              <a:buSzPct val="64286"/>
              <a:buChar char="➢"/>
            </a:pPr>
            <a:r>
              <a:rPr lang="en-US" dirty="0"/>
              <a:t>Recovery time will become a key differentiator</a:t>
            </a:r>
            <a:endParaRPr dirty="0"/>
          </a:p>
        </p:txBody>
      </p:sp>
      <p:sp>
        <p:nvSpPr>
          <p:cNvPr id="141" name="Google Shape;141;p17"/>
          <p:cNvSpPr txBox="1">
            <a:spLocks noGrp="1"/>
          </p:cNvSpPr>
          <p:nvPr>
            <p:ph type="sldNum" idx="12"/>
          </p:nvPr>
        </p:nvSpPr>
        <p:spPr>
          <a:xfrm>
            <a:off x="3498112" y="6356350"/>
            <a:ext cx="2133600" cy="3651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32</a:t>
            </a:fld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37f4b8a2-ad4f-41b5-9a91-284d2cc38f56}" enabled="1" method="Privileged" siteId="{70de1992-07c6-480f-a318-a1afcba0398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2484</TotalTime>
  <Words>1730</Words>
  <Application>Microsoft Macintosh PowerPoint</Application>
  <PresentationFormat>On-screen Show (4:3)</PresentationFormat>
  <Paragraphs>322</Paragraphs>
  <Slides>32</Slides>
  <Notes>17</Notes>
  <HiddenSlides>16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Wingdings</vt:lpstr>
      <vt:lpstr>1_Office Theme</vt:lpstr>
      <vt:lpstr>Benchmarking Message Brokers for IoT Edge Computing: A Comprehensive Performance Study</vt:lpstr>
      <vt:lpstr>Benchmarking Message Brokers for IoT-Edge Computing: A Comprehensive Performance Study (Journal Extension Plan)</vt:lpstr>
      <vt:lpstr>Proposed Extension: Beyond 1-to-1 Steady Load</vt:lpstr>
      <vt:lpstr>Why extension? (hidden)</vt:lpstr>
      <vt:lpstr>Experiment 1: Fan-Out Under Steady Load</vt:lpstr>
      <vt:lpstr>Use cases of Fan-Out Topology</vt:lpstr>
      <vt:lpstr>Experiment 1: Fan-Out Under Steady Load</vt:lpstr>
      <vt:lpstr>Fan-Out: What We Expect</vt:lpstr>
      <vt:lpstr>Initial Result (CPU) (4 vCPU, 8 GB RAM) (hidden)</vt:lpstr>
      <vt:lpstr>Initial Result (Memory) (4 vCPU, 8 GB RAM) (hidden)</vt:lpstr>
      <vt:lpstr>Why Network Bandwidth for fan-out (hidden)</vt:lpstr>
      <vt:lpstr>Why 1 Publisher per 100 Subscribers? (hidden)</vt:lpstr>
      <vt:lpstr>Fan-In Initial Results (hidden)</vt:lpstr>
      <vt:lpstr>Experiment 2: Fan-In Under Steady Load</vt:lpstr>
      <vt:lpstr>Use cases of Fan-In Topology</vt:lpstr>
      <vt:lpstr>Experiment 2: Fan-In Under Steady Load</vt:lpstr>
      <vt:lpstr>Fan-In: What We Expect</vt:lpstr>
      <vt:lpstr>Experiment 3: Bursty Controlled Fan-Out</vt:lpstr>
      <vt:lpstr>Experiment 3: Bursty Controlled Fan-Out</vt:lpstr>
      <vt:lpstr>Use cases of Bursty Fan-Out Topology</vt:lpstr>
      <vt:lpstr>Experiment 3: Bursty Traffic Profile</vt:lpstr>
      <vt:lpstr>Exp 4: Payload Sensitivity in Shared-Topic Workloads</vt:lpstr>
      <vt:lpstr>Payload Sensitivity in Shared-Topic Workloads</vt:lpstr>
      <vt:lpstr>Fan Out Initial Result (Throughput) (4 vCPU, 8 GB RAM)</vt:lpstr>
      <vt:lpstr>Bursty Fan Out Experimental Setup</vt:lpstr>
      <vt:lpstr>Delivery Throughput</vt:lpstr>
      <vt:lpstr>Average Latency</vt:lpstr>
      <vt:lpstr>CPU Usage</vt:lpstr>
      <vt:lpstr>Network Bandwidth</vt:lpstr>
      <vt:lpstr>Memory Footprint</vt:lpstr>
      <vt:lpstr>Use cases of Payload Sensitivity Experiment</vt:lpstr>
      <vt:lpstr>Expected Hypotheses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Paul, Tapajit Chandra</cp:lastModifiedBy>
  <cp:revision>108</cp:revision>
  <dcterms:modified xsi:type="dcterms:W3CDTF">2026-06-08T06:19:23Z</dcterms:modified>
</cp:coreProperties>
</file>